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6" r:id="rId1"/>
  </p:sldMasterIdLst>
  <p:sldIdLst>
    <p:sldId id="256" r:id="rId2"/>
    <p:sldId id="262" r:id="rId3"/>
    <p:sldId id="257" r:id="rId4"/>
    <p:sldId id="278" r:id="rId5"/>
    <p:sldId id="291" r:id="rId6"/>
    <p:sldId id="287" r:id="rId7"/>
    <p:sldId id="284" r:id="rId8"/>
    <p:sldId id="283" r:id="rId9"/>
    <p:sldId id="282" r:id="rId10"/>
    <p:sldId id="279" r:id="rId11"/>
    <p:sldId id="280" r:id="rId12"/>
    <p:sldId id="281" r:id="rId13"/>
    <p:sldId id="290" r:id="rId14"/>
    <p:sldId id="266" r:id="rId15"/>
    <p:sldId id="288" r:id="rId16"/>
    <p:sldId id="269" r:id="rId17"/>
    <p:sldId id="29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1" d="100"/>
          <a:sy n="81" d="100"/>
        </p:scale>
        <p:origin x="725"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8368B-F0C6-3A98-9AB6-A049D161125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6C204A6-0C3D-E898-F1B3-4E0A5DB9A7A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0301F69-5E86-8577-4102-3790A3874ABA}"/>
              </a:ext>
            </a:extLst>
          </p:cNvPr>
          <p:cNvSpPr>
            <a:spLocks noGrp="1"/>
          </p:cNvSpPr>
          <p:nvPr>
            <p:ph type="dt" sz="half" idx="10"/>
          </p:nvPr>
        </p:nvSpPr>
        <p:spPr/>
        <p:txBody>
          <a:bodyPr/>
          <a:lstStyle/>
          <a:p>
            <a:fld id="{38A7D7E1-BEE5-4940-83E4-D112C8645183}" type="datetimeFigureOut">
              <a:rPr lang="en-US" smtClean="0"/>
              <a:t>12-Nov-24</a:t>
            </a:fld>
            <a:endParaRPr lang="en-US"/>
          </a:p>
        </p:txBody>
      </p:sp>
      <p:sp>
        <p:nvSpPr>
          <p:cNvPr id="5" name="Footer Placeholder 4">
            <a:extLst>
              <a:ext uri="{FF2B5EF4-FFF2-40B4-BE49-F238E27FC236}">
                <a16:creationId xmlns:a16="http://schemas.microsoft.com/office/drawing/2014/main" id="{5C0C82D9-EF75-A975-DE82-23E86A46CE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51CBFA-7ABC-D409-0461-F9654AE3D416}"/>
              </a:ext>
            </a:extLst>
          </p:cNvPr>
          <p:cNvSpPr>
            <a:spLocks noGrp="1"/>
          </p:cNvSpPr>
          <p:nvPr>
            <p:ph type="sldNum" sz="quarter" idx="12"/>
          </p:nvPr>
        </p:nvSpPr>
        <p:spPr/>
        <p:txBody>
          <a:bodyPr/>
          <a:lstStyle/>
          <a:p>
            <a:fld id="{E3151C20-C4FC-418B-84B4-053960AF6058}" type="slidenum">
              <a:rPr lang="en-US" smtClean="0"/>
              <a:t>‹#›</a:t>
            </a:fld>
            <a:endParaRPr lang="en-US"/>
          </a:p>
        </p:txBody>
      </p:sp>
    </p:spTree>
    <p:extLst>
      <p:ext uri="{BB962C8B-B14F-4D97-AF65-F5344CB8AC3E}">
        <p14:creationId xmlns:p14="http://schemas.microsoft.com/office/powerpoint/2010/main" val="28405343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B1D84-AAEB-3F73-091E-84AB6B3C34E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A8E8AAF-0544-EF93-8FB0-56B770B9B96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639AFEA-695C-41C0-C171-E7B5D7E18019}"/>
              </a:ext>
            </a:extLst>
          </p:cNvPr>
          <p:cNvSpPr>
            <a:spLocks noGrp="1"/>
          </p:cNvSpPr>
          <p:nvPr>
            <p:ph type="dt" sz="half" idx="10"/>
          </p:nvPr>
        </p:nvSpPr>
        <p:spPr/>
        <p:txBody>
          <a:bodyPr/>
          <a:lstStyle/>
          <a:p>
            <a:fld id="{38A7D7E1-BEE5-4940-83E4-D112C8645183}" type="datetimeFigureOut">
              <a:rPr lang="en-US" smtClean="0"/>
              <a:t>12-Nov-24</a:t>
            </a:fld>
            <a:endParaRPr lang="en-US"/>
          </a:p>
        </p:txBody>
      </p:sp>
      <p:sp>
        <p:nvSpPr>
          <p:cNvPr id="5" name="Footer Placeholder 4">
            <a:extLst>
              <a:ext uri="{FF2B5EF4-FFF2-40B4-BE49-F238E27FC236}">
                <a16:creationId xmlns:a16="http://schemas.microsoft.com/office/drawing/2014/main" id="{6247B416-7280-D112-FC09-EC420382163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D45139C-8D0A-37B7-1D97-B3345E95469C}"/>
              </a:ext>
            </a:extLst>
          </p:cNvPr>
          <p:cNvSpPr>
            <a:spLocks noGrp="1"/>
          </p:cNvSpPr>
          <p:nvPr>
            <p:ph type="sldNum" sz="quarter" idx="12"/>
          </p:nvPr>
        </p:nvSpPr>
        <p:spPr/>
        <p:txBody>
          <a:bodyPr/>
          <a:lstStyle/>
          <a:p>
            <a:fld id="{E3151C20-C4FC-418B-84B4-053960AF6058}" type="slidenum">
              <a:rPr lang="en-US" smtClean="0"/>
              <a:t>‹#›</a:t>
            </a:fld>
            <a:endParaRPr lang="en-US"/>
          </a:p>
        </p:txBody>
      </p:sp>
    </p:spTree>
    <p:extLst>
      <p:ext uri="{BB962C8B-B14F-4D97-AF65-F5344CB8AC3E}">
        <p14:creationId xmlns:p14="http://schemas.microsoft.com/office/powerpoint/2010/main" val="9914048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83814F-9004-B5F1-CAE6-1B263DCB24A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D8A0838-4D12-35E1-8E4C-7F96DF3B85E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89A1926-BE60-92C2-4CE3-B7414F6CB468}"/>
              </a:ext>
            </a:extLst>
          </p:cNvPr>
          <p:cNvSpPr>
            <a:spLocks noGrp="1"/>
          </p:cNvSpPr>
          <p:nvPr>
            <p:ph type="dt" sz="half" idx="10"/>
          </p:nvPr>
        </p:nvSpPr>
        <p:spPr/>
        <p:txBody>
          <a:bodyPr/>
          <a:lstStyle/>
          <a:p>
            <a:fld id="{38A7D7E1-BEE5-4940-83E4-D112C8645183}" type="datetimeFigureOut">
              <a:rPr lang="en-US" smtClean="0"/>
              <a:t>12-Nov-24</a:t>
            </a:fld>
            <a:endParaRPr lang="en-US"/>
          </a:p>
        </p:txBody>
      </p:sp>
      <p:sp>
        <p:nvSpPr>
          <p:cNvPr id="5" name="Footer Placeholder 4">
            <a:extLst>
              <a:ext uri="{FF2B5EF4-FFF2-40B4-BE49-F238E27FC236}">
                <a16:creationId xmlns:a16="http://schemas.microsoft.com/office/drawing/2014/main" id="{4C1C6C72-1832-7C7F-549F-24D45A171F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86EE84-769D-385B-009C-FE81CB04E356}"/>
              </a:ext>
            </a:extLst>
          </p:cNvPr>
          <p:cNvSpPr>
            <a:spLocks noGrp="1"/>
          </p:cNvSpPr>
          <p:nvPr>
            <p:ph type="sldNum" sz="quarter" idx="12"/>
          </p:nvPr>
        </p:nvSpPr>
        <p:spPr/>
        <p:txBody>
          <a:bodyPr/>
          <a:lstStyle/>
          <a:p>
            <a:fld id="{E3151C20-C4FC-418B-84B4-053960AF6058}" type="slidenum">
              <a:rPr lang="en-US" smtClean="0"/>
              <a:t>‹#›</a:t>
            </a:fld>
            <a:endParaRPr lang="en-US"/>
          </a:p>
        </p:txBody>
      </p:sp>
    </p:spTree>
    <p:extLst>
      <p:ext uri="{BB962C8B-B14F-4D97-AF65-F5344CB8AC3E}">
        <p14:creationId xmlns:p14="http://schemas.microsoft.com/office/powerpoint/2010/main" val="6188291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3362AB-02C1-1DC1-0AC3-6ECD8F81E82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13C4016-AA26-549E-6DE1-D0017007DE1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62A4939-9253-F507-9C52-763DDCED8F9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C85019F-AB8F-CD86-47E1-6817BEFBC14C}"/>
              </a:ext>
            </a:extLst>
          </p:cNvPr>
          <p:cNvSpPr>
            <a:spLocks noGrp="1"/>
          </p:cNvSpPr>
          <p:nvPr>
            <p:ph type="dt" sz="half" idx="10"/>
          </p:nvPr>
        </p:nvSpPr>
        <p:spPr/>
        <p:txBody>
          <a:bodyPr/>
          <a:lstStyle/>
          <a:p>
            <a:fld id="{38A7D7E1-BEE5-4940-83E4-D112C8645183}" type="datetimeFigureOut">
              <a:rPr lang="en-US" smtClean="0"/>
              <a:t>12-Nov-24</a:t>
            </a:fld>
            <a:endParaRPr lang="en-US"/>
          </a:p>
        </p:txBody>
      </p:sp>
      <p:sp>
        <p:nvSpPr>
          <p:cNvPr id="6" name="Footer Placeholder 5">
            <a:extLst>
              <a:ext uri="{FF2B5EF4-FFF2-40B4-BE49-F238E27FC236}">
                <a16:creationId xmlns:a16="http://schemas.microsoft.com/office/drawing/2014/main" id="{382B7A5D-6480-D55E-054B-339E43D83B3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3B3C75B-671A-9454-AFAE-496C3EAD8CF6}"/>
              </a:ext>
            </a:extLst>
          </p:cNvPr>
          <p:cNvSpPr>
            <a:spLocks noGrp="1"/>
          </p:cNvSpPr>
          <p:nvPr>
            <p:ph type="sldNum" sz="quarter" idx="12"/>
          </p:nvPr>
        </p:nvSpPr>
        <p:spPr/>
        <p:txBody>
          <a:bodyPr/>
          <a:lstStyle/>
          <a:p>
            <a:fld id="{E3151C20-C4FC-418B-84B4-053960AF6058}" type="slidenum">
              <a:rPr lang="en-US" smtClean="0"/>
              <a:t>‹#›</a:t>
            </a:fld>
            <a:endParaRPr lang="en-US"/>
          </a:p>
        </p:txBody>
      </p:sp>
    </p:spTree>
    <p:extLst>
      <p:ext uri="{BB962C8B-B14F-4D97-AF65-F5344CB8AC3E}">
        <p14:creationId xmlns:p14="http://schemas.microsoft.com/office/powerpoint/2010/main" val="5009743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A9E911-D9B2-9823-1DDC-E7D53DEE6CB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38949EE-166B-AA7B-D7BA-3891E50A22D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6C41EA3-82FA-7B3A-F573-2CE5FCA0016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D706C78-1784-0B25-5A4D-EB164B35CB0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1A734AE-B54C-3B71-CC3A-0A07125E970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D455EC5-2B45-A1B6-BD9F-37B243D9CCA7}"/>
              </a:ext>
            </a:extLst>
          </p:cNvPr>
          <p:cNvSpPr>
            <a:spLocks noGrp="1"/>
          </p:cNvSpPr>
          <p:nvPr>
            <p:ph type="dt" sz="half" idx="10"/>
          </p:nvPr>
        </p:nvSpPr>
        <p:spPr/>
        <p:txBody>
          <a:bodyPr/>
          <a:lstStyle/>
          <a:p>
            <a:fld id="{38A7D7E1-BEE5-4940-83E4-D112C8645183}" type="datetimeFigureOut">
              <a:rPr lang="en-US" smtClean="0"/>
              <a:t>12-Nov-24</a:t>
            </a:fld>
            <a:endParaRPr lang="en-US"/>
          </a:p>
        </p:txBody>
      </p:sp>
      <p:sp>
        <p:nvSpPr>
          <p:cNvPr id="8" name="Footer Placeholder 7">
            <a:extLst>
              <a:ext uri="{FF2B5EF4-FFF2-40B4-BE49-F238E27FC236}">
                <a16:creationId xmlns:a16="http://schemas.microsoft.com/office/drawing/2014/main" id="{A8FB7FB9-C70C-A87F-1727-0835C209036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CC9EBBE-C917-7F9B-16DA-E0E60E359906}"/>
              </a:ext>
            </a:extLst>
          </p:cNvPr>
          <p:cNvSpPr>
            <a:spLocks noGrp="1"/>
          </p:cNvSpPr>
          <p:nvPr>
            <p:ph type="sldNum" sz="quarter" idx="12"/>
          </p:nvPr>
        </p:nvSpPr>
        <p:spPr/>
        <p:txBody>
          <a:bodyPr/>
          <a:lstStyle/>
          <a:p>
            <a:fld id="{E3151C20-C4FC-418B-84B4-053960AF6058}" type="slidenum">
              <a:rPr lang="en-US" smtClean="0"/>
              <a:t>‹#›</a:t>
            </a:fld>
            <a:endParaRPr lang="en-US"/>
          </a:p>
        </p:txBody>
      </p:sp>
    </p:spTree>
    <p:extLst>
      <p:ext uri="{BB962C8B-B14F-4D97-AF65-F5344CB8AC3E}">
        <p14:creationId xmlns:p14="http://schemas.microsoft.com/office/powerpoint/2010/main" val="5870608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DE1828-5987-F77F-186F-997DBBAC480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0633364-9F8C-0554-54AC-7C02A4681DDE}"/>
              </a:ext>
            </a:extLst>
          </p:cNvPr>
          <p:cNvSpPr>
            <a:spLocks noGrp="1"/>
          </p:cNvSpPr>
          <p:nvPr>
            <p:ph type="dt" sz="half" idx="10"/>
          </p:nvPr>
        </p:nvSpPr>
        <p:spPr/>
        <p:txBody>
          <a:bodyPr/>
          <a:lstStyle/>
          <a:p>
            <a:fld id="{38A7D7E1-BEE5-4940-83E4-D112C8645183}" type="datetimeFigureOut">
              <a:rPr lang="en-US" smtClean="0"/>
              <a:t>12-Nov-24</a:t>
            </a:fld>
            <a:endParaRPr lang="en-US"/>
          </a:p>
        </p:txBody>
      </p:sp>
      <p:sp>
        <p:nvSpPr>
          <p:cNvPr id="4" name="Footer Placeholder 3">
            <a:extLst>
              <a:ext uri="{FF2B5EF4-FFF2-40B4-BE49-F238E27FC236}">
                <a16:creationId xmlns:a16="http://schemas.microsoft.com/office/drawing/2014/main" id="{80AE572A-0842-5145-73A5-8540631DE53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90CAA4A-7D68-C212-A576-445BE250A59E}"/>
              </a:ext>
            </a:extLst>
          </p:cNvPr>
          <p:cNvSpPr>
            <a:spLocks noGrp="1"/>
          </p:cNvSpPr>
          <p:nvPr>
            <p:ph type="sldNum" sz="quarter" idx="12"/>
          </p:nvPr>
        </p:nvSpPr>
        <p:spPr/>
        <p:txBody>
          <a:bodyPr/>
          <a:lstStyle/>
          <a:p>
            <a:fld id="{E3151C20-C4FC-418B-84B4-053960AF6058}" type="slidenum">
              <a:rPr lang="en-US" smtClean="0"/>
              <a:t>‹#›</a:t>
            </a:fld>
            <a:endParaRPr lang="en-US"/>
          </a:p>
        </p:txBody>
      </p:sp>
    </p:spTree>
    <p:extLst>
      <p:ext uri="{BB962C8B-B14F-4D97-AF65-F5344CB8AC3E}">
        <p14:creationId xmlns:p14="http://schemas.microsoft.com/office/powerpoint/2010/main" val="40695438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E8FC953-E921-2F9B-BBCB-717EAD21297E}"/>
              </a:ext>
            </a:extLst>
          </p:cNvPr>
          <p:cNvSpPr>
            <a:spLocks noGrp="1"/>
          </p:cNvSpPr>
          <p:nvPr>
            <p:ph type="dt" sz="half" idx="10"/>
          </p:nvPr>
        </p:nvSpPr>
        <p:spPr/>
        <p:txBody>
          <a:bodyPr/>
          <a:lstStyle/>
          <a:p>
            <a:fld id="{38A7D7E1-BEE5-4940-83E4-D112C8645183}" type="datetimeFigureOut">
              <a:rPr lang="en-US" smtClean="0"/>
              <a:t>12-Nov-24</a:t>
            </a:fld>
            <a:endParaRPr lang="en-US"/>
          </a:p>
        </p:txBody>
      </p:sp>
      <p:sp>
        <p:nvSpPr>
          <p:cNvPr id="3" name="Footer Placeholder 2">
            <a:extLst>
              <a:ext uri="{FF2B5EF4-FFF2-40B4-BE49-F238E27FC236}">
                <a16:creationId xmlns:a16="http://schemas.microsoft.com/office/drawing/2014/main" id="{A1BAD06A-8F67-D66C-83B3-00DF7C3E3AE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AEE78A4-37BB-FC80-8A63-57923CF2F525}"/>
              </a:ext>
            </a:extLst>
          </p:cNvPr>
          <p:cNvSpPr>
            <a:spLocks noGrp="1"/>
          </p:cNvSpPr>
          <p:nvPr>
            <p:ph type="sldNum" sz="quarter" idx="12"/>
          </p:nvPr>
        </p:nvSpPr>
        <p:spPr/>
        <p:txBody>
          <a:bodyPr/>
          <a:lstStyle/>
          <a:p>
            <a:fld id="{E3151C20-C4FC-418B-84B4-053960AF6058}" type="slidenum">
              <a:rPr lang="en-US" smtClean="0"/>
              <a:t>‹#›</a:t>
            </a:fld>
            <a:endParaRPr lang="en-US"/>
          </a:p>
        </p:txBody>
      </p:sp>
    </p:spTree>
    <p:extLst>
      <p:ext uri="{BB962C8B-B14F-4D97-AF65-F5344CB8AC3E}">
        <p14:creationId xmlns:p14="http://schemas.microsoft.com/office/powerpoint/2010/main" val="23456531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3F34B-32FD-D8A7-49A0-2240CB64E89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BDF0ED0-C4B1-773C-140E-AA80CC16DF5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E9418CD-EA38-7AAF-9128-8DBEF08D53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EB932A4-57B9-6296-AD61-B2B22B4DE12B}"/>
              </a:ext>
            </a:extLst>
          </p:cNvPr>
          <p:cNvSpPr>
            <a:spLocks noGrp="1"/>
          </p:cNvSpPr>
          <p:nvPr>
            <p:ph type="dt" sz="half" idx="10"/>
          </p:nvPr>
        </p:nvSpPr>
        <p:spPr/>
        <p:txBody>
          <a:bodyPr/>
          <a:lstStyle/>
          <a:p>
            <a:fld id="{38A7D7E1-BEE5-4940-83E4-D112C8645183}" type="datetimeFigureOut">
              <a:rPr lang="en-US" smtClean="0"/>
              <a:t>12-Nov-24</a:t>
            </a:fld>
            <a:endParaRPr lang="en-US"/>
          </a:p>
        </p:txBody>
      </p:sp>
      <p:sp>
        <p:nvSpPr>
          <p:cNvPr id="6" name="Footer Placeholder 5">
            <a:extLst>
              <a:ext uri="{FF2B5EF4-FFF2-40B4-BE49-F238E27FC236}">
                <a16:creationId xmlns:a16="http://schemas.microsoft.com/office/drawing/2014/main" id="{72A22229-6F50-FF0C-8A9F-10A13130C40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2B92AF1-B23C-2F52-46FF-FA6E004C1109}"/>
              </a:ext>
            </a:extLst>
          </p:cNvPr>
          <p:cNvSpPr>
            <a:spLocks noGrp="1"/>
          </p:cNvSpPr>
          <p:nvPr>
            <p:ph type="sldNum" sz="quarter" idx="12"/>
          </p:nvPr>
        </p:nvSpPr>
        <p:spPr/>
        <p:txBody>
          <a:bodyPr/>
          <a:lstStyle/>
          <a:p>
            <a:fld id="{E3151C20-C4FC-418B-84B4-053960AF6058}" type="slidenum">
              <a:rPr lang="en-US" smtClean="0"/>
              <a:t>‹#›</a:t>
            </a:fld>
            <a:endParaRPr lang="en-US"/>
          </a:p>
        </p:txBody>
      </p:sp>
    </p:spTree>
    <p:extLst>
      <p:ext uri="{BB962C8B-B14F-4D97-AF65-F5344CB8AC3E}">
        <p14:creationId xmlns:p14="http://schemas.microsoft.com/office/powerpoint/2010/main" val="13068840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D61F1A-45E5-E37B-75F8-CDF85CDCBAF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59B1BB1-E50C-64E4-9087-B01FE38DB70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A2A8769-1345-64ED-1330-DFBE7FFC350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BB7E82C-B804-5472-E0C1-AF2E904AC677}"/>
              </a:ext>
            </a:extLst>
          </p:cNvPr>
          <p:cNvSpPr>
            <a:spLocks noGrp="1"/>
          </p:cNvSpPr>
          <p:nvPr>
            <p:ph type="dt" sz="half" idx="10"/>
          </p:nvPr>
        </p:nvSpPr>
        <p:spPr/>
        <p:txBody>
          <a:bodyPr/>
          <a:lstStyle/>
          <a:p>
            <a:fld id="{38A7D7E1-BEE5-4940-83E4-D112C8645183}" type="datetimeFigureOut">
              <a:rPr lang="en-US" smtClean="0"/>
              <a:t>12-Nov-24</a:t>
            </a:fld>
            <a:endParaRPr lang="en-US"/>
          </a:p>
        </p:txBody>
      </p:sp>
      <p:sp>
        <p:nvSpPr>
          <p:cNvPr id="6" name="Footer Placeholder 5">
            <a:extLst>
              <a:ext uri="{FF2B5EF4-FFF2-40B4-BE49-F238E27FC236}">
                <a16:creationId xmlns:a16="http://schemas.microsoft.com/office/drawing/2014/main" id="{4BA29EE4-D316-26BA-DDC8-79C0558DAF3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1635388-50E9-93A8-C92D-F26FBF4FF7D6}"/>
              </a:ext>
            </a:extLst>
          </p:cNvPr>
          <p:cNvSpPr>
            <a:spLocks noGrp="1"/>
          </p:cNvSpPr>
          <p:nvPr>
            <p:ph type="sldNum" sz="quarter" idx="12"/>
          </p:nvPr>
        </p:nvSpPr>
        <p:spPr/>
        <p:txBody>
          <a:bodyPr/>
          <a:lstStyle/>
          <a:p>
            <a:fld id="{E3151C20-C4FC-418B-84B4-053960AF6058}" type="slidenum">
              <a:rPr lang="en-US" smtClean="0"/>
              <a:t>‹#›</a:t>
            </a:fld>
            <a:endParaRPr lang="en-US"/>
          </a:p>
        </p:txBody>
      </p:sp>
    </p:spTree>
    <p:extLst>
      <p:ext uri="{BB962C8B-B14F-4D97-AF65-F5344CB8AC3E}">
        <p14:creationId xmlns:p14="http://schemas.microsoft.com/office/powerpoint/2010/main" val="42219726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9B54BF-4441-3191-D996-CB9C07FE9BF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0637C11-03E8-86AE-D1E6-7463D4FE3DE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A0EDD3-246A-7E49-635A-3CB94190ACCA}"/>
              </a:ext>
            </a:extLst>
          </p:cNvPr>
          <p:cNvSpPr>
            <a:spLocks noGrp="1"/>
          </p:cNvSpPr>
          <p:nvPr>
            <p:ph type="dt" sz="half" idx="10"/>
          </p:nvPr>
        </p:nvSpPr>
        <p:spPr/>
        <p:txBody>
          <a:bodyPr/>
          <a:lstStyle/>
          <a:p>
            <a:fld id="{38A7D7E1-BEE5-4940-83E4-D112C8645183}" type="datetimeFigureOut">
              <a:rPr lang="en-US" smtClean="0"/>
              <a:t>12-Nov-24</a:t>
            </a:fld>
            <a:endParaRPr lang="en-US"/>
          </a:p>
        </p:txBody>
      </p:sp>
      <p:sp>
        <p:nvSpPr>
          <p:cNvPr id="5" name="Footer Placeholder 4">
            <a:extLst>
              <a:ext uri="{FF2B5EF4-FFF2-40B4-BE49-F238E27FC236}">
                <a16:creationId xmlns:a16="http://schemas.microsoft.com/office/drawing/2014/main" id="{B810C1D2-7FA1-F326-C4CB-EA9F16330A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1F92CAA-4FA9-D83C-CC45-E30068B8F5A0}"/>
              </a:ext>
            </a:extLst>
          </p:cNvPr>
          <p:cNvSpPr>
            <a:spLocks noGrp="1"/>
          </p:cNvSpPr>
          <p:nvPr>
            <p:ph type="sldNum" sz="quarter" idx="12"/>
          </p:nvPr>
        </p:nvSpPr>
        <p:spPr/>
        <p:txBody>
          <a:bodyPr/>
          <a:lstStyle/>
          <a:p>
            <a:fld id="{E3151C20-C4FC-418B-84B4-053960AF6058}" type="slidenum">
              <a:rPr lang="en-US" smtClean="0"/>
              <a:t>‹#›</a:t>
            </a:fld>
            <a:endParaRPr lang="en-US"/>
          </a:p>
        </p:txBody>
      </p:sp>
    </p:spTree>
    <p:extLst>
      <p:ext uri="{BB962C8B-B14F-4D97-AF65-F5344CB8AC3E}">
        <p14:creationId xmlns:p14="http://schemas.microsoft.com/office/powerpoint/2010/main" val="35554633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0F92FE1-D277-0340-E8E7-FA61BF880D7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8E68DC8-2B3B-DDC0-3350-D9F0A718691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601A97-760B-4CBB-828D-B57FB7CA4E70}"/>
              </a:ext>
            </a:extLst>
          </p:cNvPr>
          <p:cNvSpPr>
            <a:spLocks noGrp="1"/>
          </p:cNvSpPr>
          <p:nvPr>
            <p:ph type="dt" sz="half" idx="10"/>
          </p:nvPr>
        </p:nvSpPr>
        <p:spPr/>
        <p:txBody>
          <a:bodyPr/>
          <a:lstStyle/>
          <a:p>
            <a:fld id="{38A7D7E1-BEE5-4940-83E4-D112C8645183}" type="datetimeFigureOut">
              <a:rPr lang="en-US" smtClean="0"/>
              <a:t>12-Nov-24</a:t>
            </a:fld>
            <a:endParaRPr lang="en-US"/>
          </a:p>
        </p:txBody>
      </p:sp>
      <p:sp>
        <p:nvSpPr>
          <p:cNvPr id="5" name="Footer Placeholder 4">
            <a:extLst>
              <a:ext uri="{FF2B5EF4-FFF2-40B4-BE49-F238E27FC236}">
                <a16:creationId xmlns:a16="http://schemas.microsoft.com/office/drawing/2014/main" id="{933C69E9-EDA6-A905-B3B8-EF2824AA30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49D8852-613D-5348-EB81-F95E1BB2A5FB}"/>
              </a:ext>
            </a:extLst>
          </p:cNvPr>
          <p:cNvSpPr>
            <a:spLocks noGrp="1"/>
          </p:cNvSpPr>
          <p:nvPr>
            <p:ph type="sldNum" sz="quarter" idx="12"/>
          </p:nvPr>
        </p:nvSpPr>
        <p:spPr/>
        <p:txBody>
          <a:bodyPr/>
          <a:lstStyle/>
          <a:p>
            <a:fld id="{E3151C20-C4FC-418B-84B4-053960AF6058}" type="slidenum">
              <a:rPr lang="en-US" smtClean="0"/>
              <a:t>‹#›</a:t>
            </a:fld>
            <a:endParaRPr lang="en-US"/>
          </a:p>
        </p:txBody>
      </p:sp>
    </p:spTree>
    <p:extLst>
      <p:ext uri="{BB962C8B-B14F-4D97-AF65-F5344CB8AC3E}">
        <p14:creationId xmlns:p14="http://schemas.microsoft.com/office/powerpoint/2010/main" val="22573081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920E802-310A-3EC1-3116-038405D0497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20E29DD-860A-5678-5158-E40A9176E31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0FB8824-406F-48C2-E58F-CE6979BD6D8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8A7D7E1-BEE5-4940-83E4-D112C8645183}" type="datetimeFigureOut">
              <a:rPr lang="en-US" smtClean="0"/>
              <a:t>12-Nov-24</a:t>
            </a:fld>
            <a:endParaRPr lang="en-US"/>
          </a:p>
        </p:txBody>
      </p:sp>
      <p:sp>
        <p:nvSpPr>
          <p:cNvPr id="5" name="Footer Placeholder 4">
            <a:extLst>
              <a:ext uri="{FF2B5EF4-FFF2-40B4-BE49-F238E27FC236}">
                <a16:creationId xmlns:a16="http://schemas.microsoft.com/office/drawing/2014/main" id="{1D0983E3-AEBC-07A6-5295-5F2BBD1B49C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FACAE40-42D3-25AC-3211-83593305C2E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3151C20-C4FC-418B-84B4-053960AF6058}" type="slidenum">
              <a:rPr lang="en-US" smtClean="0"/>
              <a:t>‹#›</a:t>
            </a:fld>
            <a:endParaRPr lang="en-US"/>
          </a:p>
        </p:txBody>
      </p:sp>
    </p:spTree>
    <p:extLst>
      <p:ext uri="{BB962C8B-B14F-4D97-AF65-F5344CB8AC3E}">
        <p14:creationId xmlns:p14="http://schemas.microsoft.com/office/powerpoint/2010/main" val="228003903"/>
      </p:ext>
    </p:extLst>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643077-B798-5D49-29C3-D5A518D86349}"/>
              </a:ext>
            </a:extLst>
          </p:cNvPr>
          <p:cNvSpPr>
            <a:spLocks noGrp="1"/>
          </p:cNvSpPr>
          <p:nvPr>
            <p:ph type="ctrTitle"/>
          </p:nvPr>
        </p:nvSpPr>
        <p:spPr/>
        <p:txBody>
          <a:bodyPr>
            <a:normAutofit fontScale="90000"/>
          </a:bodyPr>
          <a:lstStyle/>
          <a:p>
            <a:r>
              <a:rPr lang="en-US" b="1" dirty="0"/>
              <a:t>FINAL YEAR PROJECT-</a:t>
            </a:r>
            <a:br>
              <a:rPr lang="en-US" dirty="0"/>
            </a:br>
            <a:r>
              <a:rPr lang="en-US" dirty="0"/>
              <a:t>ONLINE EXAM PROCTORING SYSTEM</a:t>
            </a:r>
          </a:p>
        </p:txBody>
      </p:sp>
      <p:sp>
        <p:nvSpPr>
          <p:cNvPr id="3" name="Subtitle 2">
            <a:extLst>
              <a:ext uri="{FF2B5EF4-FFF2-40B4-BE49-F238E27FC236}">
                <a16:creationId xmlns:a16="http://schemas.microsoft.com/office/drawing/2014/main" id="{342E0645-5348-2FC9-5BDF-03ED71C15772}"/>
              </a:ext>
            </a:extLst>
          </p:cNvPr>
          <p:cNvSpPr>
            <a:spLocks noGrp="1"/>
          </p:cNvSpPr>
          <p:nvPr>
            <p:ph type="subTitle" idx="1"/>
          </p:nvPr>
        </p:nvSpPr>
        <p:spPr/>
        <p:txBody>
          <a:bodyPr>
            <a:normAutofit/>
          </a:bodyPr>
          <a:lstStyle/>
          <a:p>
            <a:r>
              <a:rPr lang="en-US" dirty="0">
                <a:latin typeface="Times New Roman" panose="02020603050405020304" pitchFamily="18" charset="0"/>
                <a:cs typeface="Times New Roman" panose="02020603050405020304" pitchFamily="18" charset="0"/>
              </a:rPr>
              <a:t>B121017 – Eugene Cosmas Tirkey</a:t>
            </a:r>
          </a:p>
          <a:p>
            <a:r>
              <a:rPr lang="en-US" dirty="0"/>
              <a:t> </a:t>
            </a:r>
          </a:p>
        </p:txBody>
      </p:sp>
    </p:spTree>
    <p:extLst>
      <p:ext uri="{BB962C8B-B14F-4D97-AF65-F5344CB8AC3E}">
        <p14:creationId xmlns:p14="http://schemas.microsoft.com/office/powerpoint/2010/main" val="9473160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F10BA5-3E10-C6DC-19C9-DB89565A7EAC}"/>
              </a:ext>
            </a:extLst>
          </p:cNvPr>
          <p:cNvSpPr>
            <a:spLocks noGrp="1"/>
          </p:cNvSpPr>
          <p:nvPr>
            <p:ph type="title"/>
          </p:nvPr>
        </p:nvSpPr>
        <p:spPr>
          <a:xfrm>
            <a:off x="1235964" y="2527138"/>
            <a:ext cx="9720072" cy="1499616"/>
          </a:xfrm>
        </p:spPr>
        <p:txBody>
          <a:bodyPr>
            <a:normAutofit/>
          </a:bodyPr>
          <a:lstStyle/>
          <a:p>
            <a:pPr algn="ctr"/>
            <a:r>
              <a:rPr lang="en-US" sz="9600" dirty="0"/>
              <a:t>Introduction</a:t>
            </a:r>
          </a:p>
        </p:txBody>
      </p:sp>
      <p:sp>
        <p:nvSpPr>
          <p:cNvPr id="3" name="Content Placeholder 2">
            <a:extLst>
              <a:ext uri="{FF2B5EF4-FFF2-40B4-BE49-F238E27FC236}">
                <a16:creationId xmlns:a16="http://schemas.microsoft.com/office/drawing/2014/main" id="{1FC3C9B9-EBB5-572D-3C28-5ED30F0F8CF9}"/>
              </a:ext>
            </a:extLst>
          </p:cNvPr>
          <p:cNvSpPr>
            <a:spLocks noGrp="1"/>
          </p:cNvSpPr>
          <p:nvPr>
            <p:ph idx="1"/>
          </p:nvPr>
        </p:nvSpPr>
        <p:spPr>
          <a:xfrm>
            <a:off x="1108970" y="4689835"/>
            <a:ext cx="9720073" cy="4023360"/>
          </a:xfrm>
        </p:spPr>
        <p:txBody>
          <a:bodyPr>
            <a:normAutofit/>
          </a:bodyPr>
          <a:lstStyle/>
          <a:p>
            <a:r>
              <a:rPr lang="en-US" sz="2400" dirty="0">
                <a:cs typeface="Times New Roman" panose="02020603050405020304" pitchFamily="18" charset="0"/>
              </a:rPr>
              <a:t>Online proctoring is a method of supervising exams digitally to ensure academic integrity, often using cameras, microphones, and screen monitoring </a:t>
            </a:r>
            <a:r>
              <a:rPr lang="en-US" sz="2400" dirty="0" err="1">
                <a:cs typeface="Times New Roman" panose="02020603050405020304" pitchFamily="18" charset="0"/>
              </a:rPr>
              <a:t>tools.It</a:t>
            </a:r>
            <a:r>
              <a:rPr lang="en-US" sz="2400" dirty="0">
                <a:cs typeface="Times New Roman" panose="02020603050405020304" pitchFamily="18" charset="0"/>
              </a:rPr>
              <a:t> enables institutions to conduct exams remotely while preventing cheating, making it suitable for both educational and professional certification environments.</a:t>
            </a:r>
            <a:endParaRPr lang="en-US" sz="2400" dirty="0"/>
          </a:p>
        </p:txBody>
      </p:sp>
    </p:spTree>
    <p:extLst>
      <p:ext uri="{BB962C8B-B14F-4D97-AF65-F5344CB8AC3E}">
        <p14:creationId xmlns:p14="http://schemas.microsoft.com/office/powerpoint/2010/main" val="16446565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0FE047-DF0F-BEC3-2109-741819C2A29F}"/>
              </a:ext>
            </a:extLst>
          </p:cNvPr>
          <p:cNvSpPr>
            <a:spLocks noGrp="1"/>
          </p:cNvSpPr>
          <p:nvPr>
            <p:ph type="title"/>
          </p:nvPr>
        </p:nvSpPr>
        <p:spPr>
          <a:xfrm>
            <a:off x="1235964" y="2593125"/>
            <a:ext cx="9720072" cy="1499616"/>
          </a:xfrm>
        </p:spPr>
        <p:txBody>
          <a:bodyPr>
            <a:normAutofit/>
          </a:bodyPr>
          <a:lstStyle/>
          <a:p>
            <a:pPr algn="ctr"/>
            <a:r>
              <a:rPr lang="en-US" sz="9600" dirty="0"/>
              <a:t>Problem</a:t>
            </a:r>
          </a:p>
        </p:txBody>
      </p:sp>
      <p:sp>
        <p:nvSpPr>
          <p:cNvPr id="3" name="Content Placeholder 2">
            <a:extLst>
              <a:ext uri="{FF2B5EF4-FFF2-40B4-BE49-F238E27FC236}">
                <a16:creationId xmlns:a16="http://schemas.microsoft.com/office/drawing/2014/main" id="{F1D06A17-1F59-52E3-BF93-3745C6FBBBC0}"/>
              </a:ext>
            </a:extLst>
          </p:cNvPr>
          <p:cNvSpPr>
            <a:spLocks noGrp="1"/>
          </p:cNvSpPr>
          <p:nvPr>
            <p:ph idx="1"/>
          </p:nvPr>
        </p:nvSpPr>
        <p:spPr>
          <a:xfrm>
            <a:off x="1235963" y="4092741"/>
            <a:ext cx="9720073" cy="1974915"/>
          </a:xfrm>
        </p:spPr>
        <p:txBody>
          <a:bodyPr>
            <a:noAutofit/>
          </a:bodyPr>
          <a:lstStyle/>
          <a:p>
            <a:pPr marL="0" indent="0">
              <a:buNone/>
            </a:pPr>
            <a:r>
              <a:rPr lang="en-US" sz="2400" dirty="0">
                <a:cs typeface="Times New Roman" panose="02020603050405020304" pitchFamily="18" charset="0"/>
              </a:rPr>
              <a:t>With the rise in remote learning, certification programs, and virtual training, there is a growing need for a proctoring solution that can ensure exam integrity on a large scale, across diverse educational and professional sectors.</a:t>
            </a:r>
          </a:p>
          <a:p>
            <a:pPr marL="0" indent="0">
              <a:buNone/>
            </a:pPr>
            <a:r>
              <a:rPr lang="en-US" sz="2400" dirty="0">
                <a:cs typeface="Times New Roman" panose="02020603050405020304" pitchFamily="18" charset="0"/>
              </a:rPr>
              <a:t>Traditional online exams lack effective monitoring, increasing the chances of cheating or unauthorized resource usage. Without proctoring, it is difficult to verify that examinees are adhering to exam rules, leading to compromised academic integrity.</a:t>
            </a:r>
          </a:p>
          <a:p>
            <a:endParaRPr lang="en-US" sz="2400" dirty="0">
              <a:cs typeface="Times New Roman" panose="02020603050405020304" pitchFamily="18" charset="0"/>
            </a:endParaRPr>
          </a:p>
        </p:txBody>
      </p:sp>
    </p:spTree>
    <p:extLst>
      <p:ext uri="{BB962C8B-B14F-4D97-AF65-F5344CB8AC3E}">
        <p14:creationId xmlns:p14="http://schemas.microsoft.com/office/powerpoint/2010/main" val="14818708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731B82-8462-4005-A9D2-C316A23E0F17}"/>
              </a:ext>
            </a:extLst>
          </p:cNvPr>
          <p:cNvSpPr>
            <a:spLocks noGrp="1"/>
          </p:cNvSpPr>
          <p:nvPr>
            <p:ph type="title"/>
          </p:nvPr>
        </p:nvSpPr>
        <p:spPr>
          <a:xfrm>
            <a:off x="1024129" y="2545991"/>
            <a:ext cx="9720072" cy="1499616"/>
          </a:xfrm>
        </p:spPr>
        <p:txBody>
          <a:bodyPr>
            <a:normAutofit/>
          </a:bodyPr>
          <a:lstStyle/>
          <a:p>
            <a:pPr algn="ctr"/>
            <a:r>
              <a:rPr lang="en-US" sz="9600" dirty="0"/>
              <a:t>Key issues</a:t>
            </a:r>
          </a:p>
        </p:txBody>
      </p:sp>
      <p:sp>
        <p:nvSpPr>
          <p:cNvPr id="3" name="Content Placeholder 2">
            <a:extLst>
              <a:ext uri="{FF2B5EF4-FFF2-40B4-BE49-F238E27FC236}">
                <a16:creationId xmlns:a16="http://schemas.microsoft.com/office/drawing/2014/main" id="{DE417CAB-5075-80D6-D9A5-C2B014CC188D}"/>
              </a:ext>
            </a:extLst>
          </p:cNvPr>
          <p:cNvSpPr>
            <a:spLocks noGrp="1"/>
          </p:cNvSpPr>
          <p:nvPr>
            <p:ph idx="1"/>
          </p:nvPr>
        </p:nvSpPr>
        <p:spPr>
          <a:xfrm>
            <a:off x="1024128" y="4045607"/>
            <a:ext cx="9720073" cy="2031476"/>
          </a:xfrm>
        </p:spPr>
        <p:txBody>
          <a:bodyPr>
            <a:noAutofit/>
          </a:bodyPr>
          <a:lstStyle/>
          <a:p>
            <a:r>
              <a:rPr lang="en-US" sz="2400" dirty="0">
                <a:cs typeface="Times New Roman" panose="02020603050405020304" pitchFamily="18" charset="0"/>
              </a:rPr>
              <a:t>Scalability: The system should support a large number of users simultaneously, without compromising performance or accuracy.</a:t>
            </a:r>
          </a:p>
          <a:p>
            <a:r>
              <a:rPr lang="en-US" sz="2400" dirty="0">
                <a:cs typeface="Times New Roman" panose="02020603050405020304" pitchFamily="18" charset="0"/>
              </a:rPr>
              <a:t>User Privacy: Balancing robust monitoring with respect for user privacy, ensuring data protection.</a:t>
            </a:r>
          </a:p>
          <a:p>
            <a:r>
              <a:rPr lang="en-US" sz="2400" dirty="0">
                <a:cs typeface="Times New Roman" panose="02020603050405020304" pitchFamily="18" charset="0"/>
              </a:rPr>
              <a:t>User-Friendliness: The system should be intuitive and accessible, providing a smooth experience for both examiners and examinees.</a:t>
            </a:r>
          </a:p>
        </p:txBody>
      </p:sp>
    </p:spTree>
    <p:extLst>
      <p:ext uri="{BB962C8B-B14F-4D97-AF65-F5344CB8AC3E}">
        <p14:creationId xmlns:p14="http://schemas.microsoft.com/office/powerpoint/2010/main" val="14350100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81A75A-A47D-FA8D-1B27-5B8F04B9AA23}"/>
              </a:ext>
            </a:extLst>
          </p:cNvPr>
          <p:cNvSpPr>
            <a:spLocks noGrp="1"/>
          </p:cNvSpPr>
          <p:nvPr>
            <p:ph type="title"/>
          </p:nvPr>
        </p:nvSpPr>
        <p:spPr>
          <a:xfrm>
            <a:off x="1024128" y="2516203"/>
            <a:ext cx="9720072" cy="1499616"/>
          </a:xfrm>
        </p:spPr>
        <p:txBody>
          <a:bodyPr>
            <a:normAutofit/>
          </a:bodyPr>
          <a:lstStyle/>
          <a:p>
            <a:pPr algn="ctr"/>
            <a:r>
              <a:rPr lang="en-US" sz="9600" dirty="0"/>
              <a:t>Objectives</a:t>
            </a:r>
          </a:p>
        </p:txBody>
      </p:sp>
      <p:sp>
        <p:nvSpPr>
          <p:cNvPr id="3" name="Content Placeholder 2">
            <a:extLst>
              <a:ext uri="{FF2B5EF4-FFF2-40B4-BE49-F238E27FC236}">
                <a16:creationId xmlns:a16="http://schemas.microsoft.com/office/drawing/2014/main" id="{FE6EE262-6A0B-5525-50DE-785F90F2719C}"/>
              </a:ext>
            </a:extLst>
          </p:cNvPr>
          <p:cNvSpPr>
            <a:spLocks noGrp="1"/>
          </p:cNvSpPr>
          <p:nvPr>
            <p:ph idx="1"/>
          </p:nvPr>
        </p:nvSpPr>
        <p:spPr>
          <a:xfrm>
            <a:off x="1024128" y="4015819"/>
            <a:ext cx="9720073" cy="2842181"/>
          </a:xfrm>
        </p:spPr>
        <p:txBody>
          <a:bodyPr>
            <a:normAutofit/>
          </a:bodyPr>
          <a:lstStyle/>
          <a:p>
            <a:r>
              <a:rPr kumimoji="0" lang="en-US" sz="2400" i="0" u="none" strike="noStrike" kern="1200" cap="none" spc="0" normalizeH="0" baseline="0" noProof="0" dirty="0">
                <a:ln>
                  <a:noFill/>
                </a:ln>
                <a:solidFill>
                  <a:prstClr val="black"/>
                </a:solidFill>
                <a:effectLst/>
                <a:uLnTx/>
                <a:uFillTx/>
                <a:ea typeface="+mn-ea"/>
                <a:cs typeface="Times New Roman" panose="02020603050405020304" pitchFamily="18" charset="0"/>
              </a:rPr>
              <a:t>Develop a secure and reliable proctoring system</a:t>
            </a:r>
            <a:endParaRPr lang="en-US" sz="2400" dirty="0"/>
          </a:p>
          <a:p>
            <a:r>
              <a:rPr lang="en-US" sz="2400" dirty="0"/>
              <a:t>Implement Real-Time Monitoring and Suspicion Detection</a:t>
            </a:r>
          </a:p>
          <a:p>
            <a:r>
              <a:rPr lang="en-US" sz="2400" dirty="0"/>
              <a:t>Create a User-Friendly Interface for Seamless User Experience</a:t>
            </a:r>
          </a:p>
          <a:p>
            <a:r>
              <a:rPr lang="en-US" sz="2400" dirty="0"/>
              <a:t>Enhance Scalability and Flexibility for Widespread Use</a:t>
            </a:r>
          </a:p>
          <a:p>
            <a:r>
              <a:rPr lang="en-US" sz="2400" dirty="0"/>
              <a:t>Ensure Privacy and Data Security</a:t>
            </a:r>
          </a:p>
          <a:p>
            <a:r>
              <a:rPr lang="en-US" sz="2400" dirty="0"/>
              <a:t>Automate Report Generation and Alerts for Efficient Proctoring</a:t>
            </a:r>
          </a:p>
          <a:p>
            <a:endParaRPr lang="en-US" sz="2400" dirty="0"/>
          </a:p>
        </p:txBody>
      </p:sp>
    </p:spTree>
    <p:extLst>
      <p:ext uri="{BB962C8B-B14F-4D97-AF65-F5344CB8AC3E}">
        <p14:creationId xmlns:p14="http://schemas.microsoft.com/office/powerpoint/2010/main" val="33614680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6ED0130-CCF5-0B2E-F150-8FD4D56CC850}"/>
              </a:ext>
            </a:extLst>
          </p:cNvPr>
          <p:cNvSpPr>
            <a:spLocks noGrp="1"/>
          </p:cNvSpPr>
          <p:nvPr>
            <p:ph idx="1"/>
          </p:nvPr>
        </p:nvSpPr>
        <p:spPr/>
        <p:txBody>
          <a:bodyPr>
            <a:normAutofit/>
          </a:bodyPr>
          <a:lstStyle/>
          <a:p>
            <a:pPr marL="0" indent="0" algn="ctr">
              <a:buNone/>
            </a:pPr>
            <a:r>
              <a:rPr lang="en-US" sz="9600" dirty="0">
                <a:latin typeface="+mj-lt"/>
                <a:cs typeface="Times New Roman" panose="02020603050405020304" pitchFamily="18" charset="0"/>
              </a:rPr>
              <a:t>System</a:t>
            </a:r>
          </a:p>
          <a:p>
            <a:pPr marL="0" indent="0" algn="ctr">
              <a:buNone/>
            </a:pPr>
            <a:r>
              <a:rPr lang="en-US" sz="9600" dirty="0">
                <a:latin typeface="+mj-lt"/>
                <a:cs typeface="Times New Roman" panose="02020603050405020304" pitchFamily="18" charset="0"/>
              </a:rPr>
              <a:t>Architecture</a:t>
            </a:r>
          </a:p>
        </p:txBody>
      </p:sp>
    </p:spTree>
    <p:extLst>
      <p:ext uri="{BB962C8B-B14F-4D97-AF65-F5344CB8AC3E}">
        <p14:creationId xmlns:p14="http://schemas.microsoft.com/office/powerpoint/2010/main" val="37030613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E8674-28A8-CAAC-965B-E48525C20363}"/>
              </a:ext>
            </a:extLst>
          </p:cNvPr>
          <p:cNvSpPr>
            <a:spLocks noGrp="1"/>
          </p:cNvSpPr>
          <p:nvPr>
            <p:ph type="title"/>
          </p:nvPr>
        </p:nvSpPr>
        <p:spPr>
          <a:xfrm>
            <a:off x="1024128" y="1112364"/>
            <a:ext cx="9720072" cy="972468"/>
          </a:xfrm>
        </p:spPr>
        <p:txBody>
          <a:bodyPr>
            <a:normAutofit fontScale="90000"/>
          </a:bodyPr>
          <a:lstStyle/>
          <a:p>
            <a:r>
              <a:rPr lang="en-US" dirty="0"/>
              <a:t>User Interface (UI)</a:t>
            </a:r>
            <a:br>
              <a:rPr lang="en-US" dirty="0"/>
            </a:br>
            <a:endParaRPr lang="en-US" dirty="0"/>
          </a:p>
        </p:txBody>
      </p:sp>
      <p:sp>
        <p:nvSpPr>
          <p:cNvPr id="3" name="Content Placeholder 2">
            <a:extLst>
              <a:ext uri="{FF2B5EF4-FFF2-40B4-BE49-F238E27FC236}">
                <a16:creationId xmlns:a16="http://schemas.microsoft.com/office/drawing/2014/main" id="{1152C4AE-5C11-B829-D56D-BD08DEB3DDC1}"/>
              </a:ext>
            </a:extLst>
          </p:cNvPr>
          <p:cNvSpPr>
            <a:spLocks noGrp="1"/>
          </p:cNvSpPr>
          <p:nvPr>
            <p:ph idx="1"/>
          </p:nvPr>
        </p:nvSpPr>
        <p:spPr/>
        <p:txBody>
          <a:bodyPr/>
          <a:lstStyle/>
          <a:p>
            <a:pPr>
              <a:buFont typeface="Arial" panose="020B0604020202020204" pitchFamily="34" charset="0"/>
              <a:buChar char="•"/>
            </a:pPr>
            <a:r>
              <a:rPr lang="en-US" sz="2400" b="1" dirty="0"/>
              <a:t>Purpose</a:t>
            </a:r>
            <a:r>
              <a:rPr lang="en-US" sz="2400" dirty="0"/>
              <a:t>: The UI serves as the primary interaction point for both students and proctors.</a:t>
            </a:r>
          </a:p>
          <a:p>
            <a:pPr>
              <a:buFont typeface="Arial" panose="020B0604020202020204" pitchFamily="34" charset="0"/>
              <a:buChar char="•"/>
            </a:pPr>
            <a:r>
              <a:rPr lang="en-US" sz="2400" b="1" dirty="0"/>
              <a:t>Features</a:t>
            </a:r>
            <a:r>
              <a:rPr lang="en-US" sz="2400" dirty="0"/>
              <a:t>: It allows students to log in, verify their identity, and take the exam. Proctors can view exam activity, receive alerts, and monitor exams.</a:t>
            </a:r>
          </a:p>
          <a:p>
            <a:pPr>
              <a:buFont typeface="Arial" panose="020B0604020202020204" pitchFamily="34" charset="0"/>
              <a:buChar char="•"/>
            </a:pPr>
            <a:r>
              <a:rPr lang="en-US" sz="2400" b="1" dirty="0"/>
              <a:t>Key Technologies</a:t>
            </a:r>
            <a:r>
              <a:rPr lang="en-US" sz="2400" dirty="0"/>
              <a:t>: Frontend developed using frameworks like React or Angular for responsive and interactive design, making it user-friendly and accessible</a:t>
            </a:r>
          </a:p>
          <a:p>
            <a:endParaRPr lang="en-US" dirty="0"/>
          </a:p>
        </p:txBody>
      </p:sp>
    </p:spTree>
    <p:extLst>
      <p:ext uri="{BB962C8B-B14F-4D97-AF65-F5344CB8AC3E}">
        <p14:creationId xmlns:p14="http://schemas.microsoft.com/office/powerpoint/2010/main" val="22556928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A900A-AB8D-EC46-6B75-919A923FE639}"/>
              </a:ext>
            </a:extLst>
          </p:cNvPr>
          <p:cNvSpPr>
            <a:spLocks noGrp="1"/>
          </p:cNvSpPr>
          <p:nvPr>
            <p:ph type="title"/>
          </p:nvPr>
        </p:nvSpPr>
        <p:spPr>
          <a:xfrm>
            <a:off x="1024128" y="1178350"/>
            <a:ext cx="9720072" cy="906481"/>
          </a:xfrm>
        </p:spPr>
        <p:txBody>
          <a:bodyPr>
            <a:normAutofit fontScale="90000"/>
          </a:bodyPr>
          <a:lstStyle/>
          <a:p>
            <a:r>
              <a:rPr lang="en-US" dirty="0"/>
              <a:t>Backend Server</a:t>
            </a:r>
            <a:br>
              <a:rPr lang="en-US" dirty="0"/>
            </a:br>
            <a:endParaRPr lang="en-US" dirty="0"/>
          </a:p>
        </p:txBody>
      </p:sp>
      <p:sp>
        <p:nvSpPr>
          <p:cNvPr id="3" name="Content Placeholder 2">
            <a:extLst>
              <a:ext uri="{FF2B5EF4-FFF2-40B4-BE49-F238E27FC236}">
                <a16:creationId xmlns:a16="http://schemas.microsoft.com/office/drawing/2014/main" id="{96B56D0D-42D7-B41F-71E5-DCB96E2869AF}"/>
              </a:ext>
            </a:extLst>
          </p:cNvPr>
          <p:cNvSpPr>
            <a:spLocks noGrp="1"/>
          </p:cNvSpPr>
          <p:nvPr>
            <p:ph idx="1"/>
          </p:nvPr>
        </p:nvSpPr>
        <p:spPr/>
        <p:txBody>
          <a:bodyPr>
            <a:normAutofit/>
          </a:bodyPr>
          <a:lstStyle/>
          <a:p>
            <a:pPr>
              <a:buFont typeface="Arial" panose="020B0604020202020204" pitchFamily="34" charset="0"/>
              <a:buChar char="•"/>
            </a:pPr>
            <a:r>
              <a:rPr lang="en-US" sz="2400" b="1" dirty="0"/>
              <a:t>Purpose</a:t>
            </a:r>
            <a:r>
              <a:rPr lang="en-US" sz="2400" dirty="0"/>
              <a:t>: The backend handles user authentication, data processing, and communication between components.</a:t>
            </a:r>
          </a:p>
          <a:p>
            <a:pPr>
              <a:buFont typeface="Arial" panose="020B0604020202020204" pitchFamily="34" charset="0"/>
              <a:buChar char="•"/>
            </a:pPr>
            <a:r>
              <a:rPr lang="en-US" sz="2400" b="1" dirty="0"/>
              <a:t>Functions</a:t>
            </a:r>
            <a:r>
              <a:rPr lang="en-US" sz="2400" dirty="0"/>
              <a:t>: It receives data from the UI (e.g., video, audio streams), processes this data for real-time analysis, and returns monitoring updates to the UI.</a:t>
            </a:r>
          </a:p>
          <a:p>
            <a:pPr>
              <a:buFont typeface="Arial" panose="020B0604020202020204" pitchFamily="34" charset="0"/>
              <a:buChar char="•"/>
            </a:pPr>
            <a:r>
              <a:rPr lang="en-US" sz="2400" b="1" dirty="0"/>
              <a:t>Key Technologies</a:t>
            </a:r>
            <a:r>
              <a:rPr lang="en-US" sz="2400" dirty="0"/>
              <a:t>: A backend framework like Django, Flask, or Node.js manages server-side operations efficiently.</a:t>
            </a:r>
          </a:p>
          <a:p>
            <a:endParaRPr lang="en-US" sz="2400" dirty="0"/>
          </a:p>
        </p:txBody>
      </p:sp>
    </p:spTree>
    <p:extLst>
      <p:ext uri="{BB962C8B-B14F-4D97-AF65-F5344CB8AC3E}">
        <p14:creationId xmlns:p14="http://schemas.microsoft.com/office/powerpoint/2010/main" val="20299820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4EEC1-AC74-97BB-DE28-1C4F324D56E8}"/>
              </a:ext>
            </a:extLst>
          </p:cNvPr>
          <p:cNvSpPr>
            <a:spLocks noGrp="1"/>
          </p:cNvSpPr>
          <p:nvPr>
            <p:ph type="title"/>
          </p:nvPr>
        </p:nvSpPr>
        <p:spPr>
          <a:xfrm>
            <a:off x="1024128" y="1216058"/>
            <a:ext cx="9720072" cy="868774"/>
          </a:xfrm>
        </p:spPr>
        <p:txBody>
          <a:bodyPr>
            <a:normAutofit fontScale="90000"/>
          </a:bodyPr>
          <a:lstStyle/>
          <a:p>
            <a:r>
              <a:rPr lang="en-US" dirty="0"/>
              <a:t>Proctoring Tools</a:t>
            </a:r>
            <a:br>
              <a:rPr lang="en-US" dirty="0"/>
            </a:br>
            <a:endParaRPr lang="en-US" dirty="0"/>
          </a:p>
        </p:txBody>
      </p:sp>
      <p:sp>
        <p:nvSpPr>
          <p:cNvPr id="3" name="Content Placeholder 2">
            <a:extLst>
              <a:ext uri="{FF2B5EF4-FFF2-40B4-BE49-F238E27FC236}">
                <a16:creationId xmlns:a16="http://schemas.microsoft.com/office/drawing/2014/main" id="{E4ED3534-CD91-D89F-76FC-00F48794227D}"/>
              </a:ext>
            </a:extLst>
          </p:cNvPr>
          <p:cNvSpPr>
            <a:spLocks noGrp="1"/>
          </p:cNvSpPr>
          <p:nvPr>
            <p:ph idx="1"/>
          </p:nvPr>
        </p:nvSpPr>
        <p:spPr/>
        <p:txBody>
          <a:bodyPr>
            <a:normAutofit fontScale="92500" lnSpcReduction="10000"/>
          </a:bodyPr>
          <a:lstStyle/>
          <a:p>
            <a:pPr>
              <a:buFont typeface="Arial" panose="020B0604020202020204" pitchFamily="34" charset="0"/>
              <a:buChar char="•"/>
            </a:pPr>
            <a:r>
              <a:rPr lang="en-US" b="1" dirty="0"/>
              <a:t>Purpose</a:t>
            </a:r>
            <a:r>
              <a:rPr lang="en-US" dirty="0"/>
              <a:t>: These tools perform the actual monitoring and detection of suspicious behaviors.</a:t>
            </a:r>
          </a:p>
          <a:p>
            <a:pPr>
              <a:buFont typeface="Arial" panose="020B0604020202020204" pitchFamily="34" charset="0"/>
              <a:buChar char="•"/>
            </a:pPr>
            <a:r>
              <a:rPr lang="en-US" b="1" dirty="0"/>
              <a:t>Key Modules</a:t>
            </a:r>
            <a:r>
              <a:rPr lang="en-US" dirty="0"/>
              <a:t>:</a:t>
            </a:r>
          </a:p>
          <a:p>
            <a:pPr marL="742950" lvl="1" indent="-285750">
              <a:buFont typeface="Arial" panose="020B0604020202020204" pitchFamily="34" charset="0"/>
              <a:buChar char="•"/>
            </a:pPr>
            <a:r>
              <a:rPr lang="en-US" b="1" dirty="0"/>
              <a:t>Face Recognition Module</a:t>
            </a:r>
            <a:r>
              <a:rPr lang="en-US" dirty="0"/>
              <a:t>: Verifies the student’s identity using a pre-stored image, ensuring that the registered student is taking the exam.</a:t>
            </a:r>
          </a:p>
          <a:p>
            <a:pPr marL="742950" lvl="1" indent="-285750">
              <a:buFont typeface="Arial" panose="020B0604020202020204" pitchFamily="34" charset="0"/>
              <a:buChar char="•"/>
            </a:pPr>
            <a:r>
              <a:rPr lang="en-US" b="1" dirty="0"/>
              <a:t>Gaze Tracking</a:t>
            </a:r>
            <a:r>
              <a:rPr lang="en-US" dirty="0"/>
              <a:t>: Detects eye movement to identify if the student is looking away from the screen frequently.</a:t>
            </a:r>
          </a:p>
          <a:p>
            <a:pPr marL="742950" lvl="1" indent="-285750">
              <a:buFont typeface="Arial" panose="020B0604020202020204" pitchFamily="34" charset="0"/>
              <a:buChar char="•"/>
            </a:pPr>
            <a:r>
              <a:rPr lang="en-US" b="1" dirty="0"/>
              <a:t>Audio Monitoring</a:t>
            </a:r>
            <a:r>
              <a:rPr lang="en-US" dirty="0"/>
              <a:t>: Listens for background noise to detect any unauthorized collaboration or suspicious sounds.</a:t>
            </a:r>
          </a:p>
          <a:p>
            <a:pPr marL="742950" lvl="1" indent="-285750">
              <a:buFont typeface="Arial" panose="020B0604020202020204" pitchFamily="34" charset="0"/>
              <a:buChar char="•"/>
            </a:pPr>
            <a:r>
              <a:rPr lang="en-US" b="1" dirty="0"/>
              <a:t>Screen Recording</a:t>
            </a:r>
            <a:r>
              <a:rPr lang="en-US" dirty="0"/>
              <a:t>: Captures the student’s screen in real-time to ensure they are not accessing unauthorized resources.</a:t>
            </a:r>
          </a:p>
          <a:p>
            <a:pPr>
              <a:buFont typeface="Arial" panose="020B0604020202020204" pitchFamily="34" charset="0"/>
              <a:buChar char="•"/>
            </a:pPr>
            <a:r>
              <a:rPr lang="en-US" b="1" dirty="0"/>
              <a:t>Key Technologies</a:t>
            </a:r>
            <a:r>
              <a:rPr lang="en-US" dirty="0"/>
              <a:t>: Libraries like OpenCV and TensorFlow are used for AI-driven features like facial recognition and gaze tracking.</a:t>
            </a:r>
          </a:p>
          <a:p>
            <a:endParaRPr lang="en-US" dirty="0"/>
          </a:p>
        </p:txBody>
      </p:sp>
    </p:spTree>
    <p:extLst>
      <p:ext uri="{BB962C8B-B14F-4D97-AF65-F5344CB8AC3E}">
        <p14:creationId xmlns:p14="http://schemas.microsoft.com/office/powerpoint/2010/main" val="29948127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B1717B-4660-784E-9595-8110683CB7C2}"/>
              </a:ext>
            </a:extLst>
          </p:cNvPr>
          <p:cNvSpPr>
            <a:spLocks noGrp="1"/>
          </p:cNvSpPr>
          <p:nvPr>
            <p:ph type="title"/>
          </p:nvPr>
        </p:nvSpPr>
        <p:spPr>
          <a:xfrm>
            <a:off x="1024128" y="1178351"/>
            <a:ext cx="9720072" cy="906481"/>
          </a:xfrm>
        </p:spPr>
        <p:txBody>
          <a:bodyPr>
            <a:normAutofit fontScale="90000"/>
          </a:bodyPr>
          <a:lstStyle/>
          <a:p>
            <a:r>
              <a:rPr lang="en-US" dirty="0"/>
              <a:t>Data Storage and Database</a:t>
            </a:r>
            <a:br>
              <a:rPr lang="en-US" dirty="0"/>
            </a:br>
            <a:endParaRPr lang="en-US" dirty="0"/>
          </a:p>
        </p:txBody>
      </p:sp>
      <p:sp>
        <p:nvSpPr>
          <p:cNvPr id="3" name="Content Placeholder 2">
            <a:extLst>
              <a:ext uri="{FF2B5EF4-FFF2-40B4-BE49-F238E27FC236}">
                <a16:creationId xmlns:a16="http://schemas.microsoft.com/office/drawing/2014/main" id="{E8AC61C0-6D97-D585-2D79-197D1FDEC32A}"/>
              </a:ext>
            </a:extLst>
          </p:cNvPr>
          <p:cNvSpPr>
            <a:spLocks noGrp="1"/>
          </p:cNvSpPr>
          <p:nvPr>
            <p:ph idx="1"/>
          </p:nvPr>
        </p:nvSpPr>
        <p:spPr/>
        <p:txBody>
          <a:bodyPr>
            <a:normAutofit/>
          </a:bodyPr>
          <a:lstStyle/>
          <a:p>
            <a:pPr>
              <a:buFont typeface="Arial" panose="020B0604020202020204" pitchFamily="34" charset="0"/>
              <a:buChar char="•"/>
            </a:pPr>
            <a:r>
              <a:rPr lang="en-US" sz="2400" b="1" dirty="0"/>
              <a:t>Purpose</a:t>
            </a:r>
            <a:r>
              <a:rPr lang="en-US" sz="2400" dirty="0"/>
              <a:t>: Stores user information, exam records, monitoring data, and flagged events securely.</a:t>
            </a:r>
          </a:p>
          <a:p>
            <a:pPr>
              <a:buFont typeface="Arial" panose="020B0604020202020204" pitchFamily="34" charset="0"/>
              <a:buChar char="•"/>
            </a:pPr>
            <a:r>
              <a:rPr lang="en-US" sz="2400" b="1" dirty="0"/>
              <a:t>Database Type</a:t>
            </a:r>
            <a:r>
              <a:rPr lang="en-US" sz="2400" dirty="0"/>
              <a:t>: Uses relational or NoSQL databases like MySQL, PostgreSQL, or MongoDB to store data in a structured format, enabling efficient access and retrieval.</a:t>
            </a:r>
          </a:p>
          <a:p>
            <a:pPr>
              <a:buFont typeface="Arial" panose="020B0604020202020204" pitchFamily="34" charset="0"/>
              <a:buChar char="•"/>
            </a:pPr>
            <a:r>
              <a:rPr lang="en-US" sz="2400" b="1" dirty="0"/>
              <a:t>Data Security</a:t>
            </a:r>
            <a:r>
              <a:rPr lang="en-US" sz="2400" dirty="0"/>
              <a:t>: Implements encryption for sensitive data to ensure compliance with data protection standards.</a:t>
            </a:r>
          </a:p>
          <a:p>
            <a:endParaRPr lang="en-US" sz="2400" dirty="0"/>
          </a:p>
        </p:txBody>
      </p:sp>
    </p:spTree>
    <p:extLst>
      <p:ext uri="{BB962C8B-B14F-4D97-AF65-F5344CB8AC3E}">
        <p14:creationId xmlns:p14="http://schemas.microsoft.com/office/powerpoint/2010/main" val="42901883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24D2D1-02BB-703E-6066-B8103018CA0F}"/>
              </a:ext>
            </a:extLst>
          </p:cNvPr>
          <p:cNvSpPr>
            <a:spLocks noGrp="1"/>
          </p:cNvSpPr>
          <p:nvPr>
            <p:ph type="title"/>
          </p:nvPr>
        </p:nvSpPr>
        <p:spPr>
          <a:xfrm>
            <a:off x="1024128" y="1140642"/>
            <a:ext cx="9720072" cy="944189"/>
          </a:xfrm>
        </p:spPr>
        <p:txBody>
          <a:bodyPr>
            <a:normAutofit fontScale="90000"/>
          </a:bodyPr>
          <a:lstStyle/>
          <a:p>
            <a:r>
              <a:rPr lang="en-US" dirty="0"/>
              <a:t>Real-Time Processing and Alerts Module</a:t>
            </a:r>
            <a:br>
              <a:rPr lang="en-US" dirty="0"/>
            </a:br>
            <a:endParaRPr lang="en-US" dirty="0"/>
          </a:p>
        </p:txBody>
      </p:sp>
      <p:sp>
        <p:nvSpPr>
          <p:cNvPr id="3" name="Content Placeholder 2">
            <a:extLst>
              <a:ext uri="{FF2B5EF4-FFF2-40B4-BE49-F238E27FC236}">
                <a16:creationId xmlns:a16="http://schemas.microsoft.com/office/drawing/2014/main" id="{36AE7637-BE63-64FD-CC73-96AD8651E882}"/>
              </a:ext>
            </a:extLst>
          </p:cNvPr>
          <p:cNvSpPr>
            <a:spLocks noGrp="1"/>
          </p:cNvSpPr>
          <p:nvPr>
            <p:ph idx="1"/>
          </p:nvPr>
        </p:nvSpPr>
        <p:spPr/>
        <p:txBody>
          <a:bodyPr>
            <a:normAutofit/>
          </a:bodyPr>
          <a:lstStyle/>
          <a:p>
            <a:pPr>
              <a:buFont typeface="Arial" panose="020B0604020202020204" pitchFamily="34" charset="0"/>
              <a:buChar char="•"/>
            </a:pPr>
            <a:r>
              <a:rPr lang="en-US" sz="2400" b="1" dirty="0"/>
              <a:t>Purpose</a:t>
            </a:r>
            <a:r>
              <a:rPr lang="en-US" sz="2400" dirty="0"/>
              <a:t>: Processes data in real-time and generates alerts for any suspicious activities.</a:t>
            </a:r>
          </a:p>
          <a:p>
            <a:pPr>
              <a:buFont typeface="Arial" panose="020B0604020202020204" pitchFamily="34" charset="0"/>
              <a:buChar char="•"/>
            </a:pPr>
            <a:r>
              <a:rPr lang="en-US" sz="2400" b="1" dirty="0"/>
              <a:t>Functions</a:t>
            </a:r>
            <a:r>
              <a:rPr lang="en-US" sz="2400" dirty="0"/>
              <a:t>: Analyzes data from proctoring tools, identifying rule violations such as multiple faces detected, abnormal audio levels, or unauthorized screen activity. Sends real-time alerts to the proctor if any irregularities are detected.</a:t>
            </a:r>
          </a:p>
          <a:p>
            <a:pPr>
              <a:buFont typeface="Arial" panose="020B0604020202020204" pitchFamily="34" charset="0"/>
              <a:buChar char="•"/>
            </a:pPr>
            <a:r>
              <a:rPr lang="en-US" sz="2400" b="1" dirty="0"/>
              <a:t>Key Technologies</a:t>
            </a:r>
            <a:r>
              <a:rPr lang="en-US" sz="2400" dirty="0"/>
              <a:t>: Real-time processing tools like Apache Kafka or </a:t>
            </a:r>
            <a:r>
              <a:rPr lang="en-US" sz="2400" dirty="0" err="1"/>
              <a:t>WebSockets</a:t>
            </a:r>
            <a:r>
              <a:rPr lang="en-US" sz="2400" dirty="0"/>
              <a:t> to ensure that alerts are transmitted instantly.</a:t>
            </a:r>
          </a:p>
          <a:p>
            <a:endParaRPr lang="en-US" sz="2400" dirty="0"/>
          </a:p>
        </p:txBody>
      </p:sp>
    </p:spTree>
    <p:extLst>
      <p:ext uri="{BB962C8B-B14F-4D97-AF65-F5344CB8AC3E}">
        <p14:creationId xmlns:p14="http://schemas.microsoft.com/office/powerpoint/2010/main" val="882927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8DA586-8015-3A6A-AA29-F098E17065BB}"/>
              </a:ext>
            </a:extLst>
          </p:cNvPr>
          <p:cNvSpPr>
            <a:spLocks noGrp="1"/>
          </p:cNvSpPr>
          <p:nvPr>
            <p:ph type="title"/>
          </p:nvPr>
        </p:nvSpPr>
        <p:spPr>
          <a:xfrm>
            <a:off x="1024128" y="1131216"/>
            <a:ext cx="9720072" cy="953616"/>
          </a:xfrm>
        </p:spPr>
        <p:txBody>
          <a:bodyPr>
            <a:normAutofit fontScale="90000"/>
          </a:bodyPr>
          <a:lstStyle/>
          <a:p>
            <a:r>
              <a:rPr lang="en-US" dirty="0"/>
              <a:t>Reporting and Logging Module</a:t>
            </a:r>
            <a:br>
              <a:rPr lang="en-US" dirty="0"/>
            </a:br>
            <a:endParaRPr lang="en-US" dirty="0"/>
          </a:p>
        </p:txBody>
      </p:sp>
      <p:sp>
        <p:nvSpPr>
          <p:cNvPr id="3" name="Content Placeholder 2">
            <a:extLst>
              <a:ext uri="{FF2B5EF4-FFF2-40B4-BE49-F238E27FC236}">
                <a16:creationId xmlns:a16="http://schemas.microsoft.com/office/drawing/2014/main" id="{184D4770-B643-03DB-7CDD-762D6D312D64}"/>
              </a:ext>
            </a:extLst>
          </p:cNvPr>
          <p:cNvSpPr>
            <a:spLocks noGrp="1"/>
          </p:cNvSpPr>
          <p:nvPr>
            <p:ph idx="1"/>
          </p:nvPr>
        </p:nvSpPr>
        <p:spPr/>
        <p:txBody>
          <a:bodyPr>
            <a:normAutofit/>
          </a:bodyPr>
          <a:lstStyle/>
          <a:p>
            <a:pPr>
              <a:buFont typeface="Arial" panose="020B0604020202020204" pitchFamily="34" charset="0"/>
              <a:buChar char="•"/>
            </a:pPr>
            <a:r>
              <a:rPr lang="en-US" sz="2400" b="1" dirty="0"/>
              <a:t>Purpose</a:t>
            </a:r>
            <a:r>
              <a:rPr lang="en-US" sz="2400" dirty="0"/>
              <a:t>: Logs all monitoring data, flagged events, and generates reports after the exam.</a:t>
            </a:r>
          </a:p>
          <a:p>
            <a:pPr>
              <a:buFont typeface="Arial" panose="020B0604020202020204" pitchFamily="34" charset="0"/>
              <a:buChar char="•"/>
            </a:pPr>
            <a:r>
              <a:rPr lang="en-US" sz="2400" b="1" dirty="0"/>
              <a:t>Functions</a:t>
            </a:r>
            <a:r>
              <a:rPr lang="en-US" sz="2400" dirty="0"/>
              <a:t>: Compiles a detailed report for each exam, highlighting any detected anomalies or flagged behaviors for review. Proctors and administrators can use these reports for post-exam analysis.</a:t>
            </a:r>
          </a:p>
          <a:p>
            <a:pPr>
              <a:buFont typeface="Arial" panose="020B0604020202020204" pitchFamily="34" charset="0"/>
              <a:buChar char="•"/>
            </a:pPr>
            <a:r>
              <a:rPr lang="en-US" sz="2400" b="1" dirty="0"/>
              <a:t>Key Technologies</a:t>
            </a:r>
            <a:r>
              <a:rPr lang="en-US" sz="2400" dirty="0"/>
              <a:t>: Report generation libraries, along with secure storage practices to archive logs.</a:t>
            </a:r>
          </a:p>
          <a:p>
            <a:endParaRPr lang="en-US" sz="2400" dirty="0"/>
          </a:p>
        </p:txBody>
      </p:sp>
    </p:spTree>
    <p:extLst>
      <p:ext uri="{BB962C8B-B14F-4D97-AF65-F5344CB8AC3E}">
        <p14:creationId xmlns:p14="http://schemas.microsoft.com/office/powerpoint/2010/main" val="39920592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296E22-A840-11F1-CFCD-C65FFAAB2790}"/>
              </a:ext>
            </a:extLst>
          </p:cNvPr>
          <p:cNvSpPr>
            <a:spLocks noGrp="1"/>
          </p:cNvSpPr>
          <p:nvPr>
            <p:ph type="title"/>
          </p:nvPr>
        </p:nvSpPr>
        <p:spPr>
          <a:xfrm>
            <a:off x="1235964" y="2762808"/>
            <a:ext cx="9720072" cy="1499616"/>
          </a:xfrm>
        </p:spPr>
        <p:txBody>
          <a:bodyPr>
            <a:noAutofit/>
          </a:bodyPr>
          <a:lstStyle/>
          <a:p>
            <a:pPr algn="ctr"/>
            <a:r>
              <a:rPr lang="en-US" sz="9600" dirty="0"/>
              <a:t>Technologies used</a:t>
            </a:r>
            <a:br>
              <a:rPr lang="en-US" sz="9600" dirty="0"/>
            </a:br>
            <a:endParaRPr lang="en-US" sz="9600" dirty="0"/>
          </a:p>
        </p:txBody>
      </p:sp>
      <p:sp>
        <p:nvSpPr>
          <p:cNvPr id="3" name="Content Placeholder 2">
            <a:extLst>
              <a:ext uri="{FF2B5EF4-FFF2-40B4-BE49-F238E27FC236}">
                <a16:creationId xmlns:a16="http://schemas.microsoft.com/office/drawing/2014/main" id="{A21F296E-16D5-E4D2-6970-7E06E12FFF11}"/>
              </a:ext>
            </a:extLst>
          </p:cNvPr>
          <p:cNvSpPr>
            <a:spLocks noGrp="1"/>
          </p:cNvSpPr>
          <p:nvPr>
            <p:ph idx="1"/>
          </p:nvPr>
        </p:nvSpPr>
        <p:spPr>
          <a:xfrm>
            <a:off x="1235964" y="3794288"/>
            <a:ext cx="9720073" cy="4023360"/>
          </a:xfrm>
        </p:spPr>
        <p:txBody>
          <a:bodyPr>
            <a:normAutofit/>
          </a:bodyPr>
          <a:lstStyle/>
          <a:p>
            <a:r>
              <a:rPr lang="en-US" sz="2400" dirty="0"/>
              <a:t>Programming Languages: JavaScript, Python</a:t>
            </a:r>
          </a:p>
          <a:p>
            <a:r>
              <a:rPr lang="en-US" sz="2400" dirty="0"/>
              <a:t>Frameworks: Django/Flask (Backend), React (Frontend)</a:t>
            </a:r>
          </a:p>
          <a:p>
            <a:r>
              <a:rPr lang="en-US" sz="2400" dirty="0"/>
              <a:t>Libraries: TensorFlow, OpenCV (for AI-based detection)</a:t>
            </a:r>
          </a:p>
          <a:p>
            <a:r>
              <a:rPr lang="en-US" sz="2400" dirty="0"/>
              <a:t>Database: MySQL or MongoDB for data storage</a:t>
            </a:r>
          </a:p>
          <a:p>
            <a:r>
              <a:rPr lang="en-US" sz="2400" dirty="0"/>
              <a:t>API Integrations: Any third-party APIs for enhanced functionalities</a:t>
            </a:r>
          </a:p>
          <a:p>
            <a:endParaRPr lang="en-US" sz="2400" dirty="0"/>
          </a:p>
        </p:txBody>
      </p:sp>
    </p:spTree>
    <p:extLst>
      <p:ext uri="{BB962C8B-B14F-4D97-AF65-F5344CB8AC3E}">
        <p14:creationId xmlns:p14="http://schemas.microsoft.com/office/powerpoint/2010/main" val="2163525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350865-5519-EA2D-B834-684E4A9DB3E0}"/>
              </a:ext>
            </a:extLst>
          </p:cNvPr>
          <p:cNvSpPr>
            <a:spLocks noGrp="1"/>
          </p:cNvSpPr>
          <p:nvPr>
            <p:ph type="title"/>
          </p:nvPr>
        </p:nvSpPr>
        <p:spPr>
          <a:xfrm>
            <a:off x="939287" y="1929384"/>
            <a:ext cx="9720072" cy="1499616"/>
          </a:xfrm>
        </p:spPr>
        <p:txBody>
          <a:bodyPr>
            <a:normAutofit/>
          </a:bodyPr>
          <a:lstStyle/>
          <a:p>
            <a:pPr algn="ctr"/>
            <a:r>
              <a:rPr lang="en-US" sz="9600" dirty="0"/>
              <a:t>Key features</a:t>
            </a:r>
          </a:p>
        </p:txBody>
      </p:sp>
      <p:sp>
        <p:nvSpPr>
          <p:cNvPr id="3" name="Content Placeholder 2">
            <a:extLst>
              <a:ext uri="{FF2B5EF4-FFF2-40B4-BE49-F238E27FC236}">
                <a16:creationId xmlns:a16="http://schemas.microsoft.com/office/drawing/2014/main" id="{860F2A46-05D0-EA28-1373-BD4C8BAF04F5}"/>
              </a:ext>
            </a:extLst>
          </p:cNvPr>
          <p:cNvSpPr>
            <a:spLocks noGrp="1"/>
          </p:cNvSpPr>
          <p:nvPr>
            <p:ph idx="1"/>
          </p:nvPr>
        </p:nvSpPr>
        <p:spPr>
          <a:xfrm>
            <a:off x="1235963" y="3935690"/>
            <a:ext cx="9720073" cy="1767526"/>
          </a:xfrm>
        </p:spPr>
        <p:txBody>
          <a:bodyPr>
            <a:noAutofit/>
          </a:bodyPr>
          <a:lstStyle/>
          <a:p>
            <a:pPr marL="0" indent="0">
              <a:buNone/>
            </a:pPr>
            <a:r>
              <a:rPr lang="en-US" sz="2400" b="1" dirty="0">
                <a:cs typeface="Times New Roman" panose="02020603050405020304" pitchFamily="18" charset="0"/>
              </a:rPr>
              <a:t>Identity Verification</a:t>
            </a:r>
            <a:r>
              <a:rPr lang="en-US" sz="2400" dirty="0">
                <a:cs typeface="Times New Roman" panose="02020603050405020304" pitchFamily="18" charset="0"/>
              </a:rPr>
              <a:t>: Face recognition to authenticate the student.</a:t>
            </a:r>
          </a:p>
          <a:p>
            <a:pPr marL="0" indent="0">
              <a:buNone/>
            </a:pPr>
            <a:r>
              <a:rPr lang="en-US" sz="2400" b="1" dirty="0">
                <a:cs typeface="Times New Roman" panose="02020603050405020304" pitchFamily="18" charset="0"/>
              </a:rPr>
              <a:t>Audio &amp; Video Monitoring</a:t>
            </a:r>
            <a:r>
              <a:rPr lang="en-US" sz="2400" dirty="0">
                <a:cs typeface="Times New Roman" panose="02020603050405020304" pitchFamily="18" charset="0"/>
              </a:rPr>
              <a:t>: Continuously monitor to detect any suspicious activities.</a:t>
            </a:r>
          </a:p>
          <a:p>
            <a:pPr marL="0" indent="0">
              <a:buNone/>
            </a:pPr>
            <a:r>
              <a:rPr lang="en-US" sz="2400" b="1" dirty="0">
                <a:cs typeface="Times New Roman" panose="02020603050405020304" pitchFamily="18" charset="0"/>
              </a:rPr>
              <a:t>Screen Recording</a:t>
            </a:r>
            <a:r>
              <a:rPr lang="en-US" sz="2400" dirty="0">
                <a:cs typeface="Times New Roman" panose="02020603050405020304" pitchFamily="18" charset="0"/>
              </a:rPr>
              <a:t>: Logs screen activities to prevent unauthorized resources.</a:t>
            </a:r>
          </a:p>
          <a:p>
            <a:pPr marL="0" indent="0">
              <a:buNone/>
            </a:pPr>
            <a:r>
              <a:rPr lang="en-US" sz="2400" b="1" dirty="0">
                <a:cs typeface="Times New Roman" panose="02020603050405020304" pitchFamily="18" charset="0"/>
              </a:rPr>
              <a:t>Real-time Alerts</a:t>
            </a:r>
            <a:r>
              <a:rPr lang="en-US" sz="2400" dirty="0">
                <a:cs typeface="Times New Roman" panose="02020603050405020304" pitchFamily="18" charset="0"/>
              </a:rPr>
              <a:t>: Triggers alerts for abnormal behaviors (e.g., multiple faces detected).</a:t>
            </a:r>
          </a:p>
          <a:p>
            <a:endParaRPr lang="en-US" sz="2400" dirty="0"/>
          </a:p>
        </p:txBody>
      </p:sp>
    </p:spTree>
    <p:extLst>
      <p:ext uri="{BB962C8B-B14F-4D97-AF65-F5344CB8AC3E}">
        <p14:creationId xmlns:p14="http://schemas.microsoft.com/office/powerpoint/2010/main" val="518030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E82122-3DBD-A93F-C2BE-87C90798C847}"/>
              </a:ext>
            </a:extLst>
          </p:cNvPr>
          <p:cNvSpPr>
            <a:spLocks noGrp="1"/>
          </p:cNvSpPr>
          <p:nvPr>
            <p:ph type="title"/>
          </p:nvPr>
        </p:nvSpPr>
        <p:spPr>
          <a:xfrm>
            <a:off x="1099543" y="2187773"/>
            <a:ext cx="9720072" cy="1499616"/>
          </a:xfrm>
        </p:spPr>
        <p:txBody>
          <a:bodyPr>
            <a:noAutofit/>
          </a:bodyPr>
          <a:lstStyle/>
          <a:p>
            <a:pPr algn="ctr"/>
            <a:r>
              <a:rPr lang="en-US" sz="9600" dirty="0"/>
              <a:t>Challenges and solutions</a:t>
            </a:r>
          </a:p>
        </p:txBody>
      </p:sp>
      <p:sp>
        <p:nvSpPr>
          <p:cNvPr id="3" name="Content Placeholder 2">
            <a:extLst>
              <a:ext uri="{FF2B5EF4-FFF2-40B4-BE49-F238E27FC236}">
                <a16:creationId xmlns:a16="http://schemas.microsoft.com/office/drawing/2014/main" id="{1684EF75-B2AB-80F4-27D8-D23422EFD5F5}"/>
              </a:ext>
            </a:extLst>
          </p:cNvPr>
          <p:cNvSpPr>
            <a:spLocks noGrp="1"/>
          </p:cNvSpPr>
          <p:nvPr>
            <p:ph idx="1"/>
          </p:nvPr>
        </p:nvSpPr>
        <p:spPr>
          <a:xfrm>
            <a:off x="1024128" y="4209068"/>
            <a:ext cx="9720073" cy="2776194"/>
          </a:xfrm>
        </p:spPr>
        <p:txBody>
          <a:bodyPr>
            <a:normAutofit/>
          </a:bodyPr>
          <a:lstStyle/>
          <a:p>
            <a:r>
              <a:rPr lang="en-US" sz="2400" dirty="0"/>
              <a:t>Challenges:</a:t>
            </a:r>
          </a:p>
          <a:p>
            <a:r>
              <a:rPr lang="en-US" sz="2400" dirty="0"/>
              <a:t>Handling low internet speeds without lag in monitoring.</a:t>
            </a:r>
          </a:p>
          <a:p>
            <a:r>
              <a:rPr lang="en-US" sz="2400" dirty="0"/>
              <a:t>Addressing privacy concerns and data security issues.</a:t>
            </a:r>
          </a:p>
          <a:p>
            <a:r>
              <a:rPr lang="en-US" sz="2400" dirty="0"/>
              <a:t>Solutions:</a:t>
            </a:r>
          </a:p>
          <a:p>
            <a:r>
              <a:rPr lang="en-US" sz="2400" dirty="0"/>
              <a:t>Optimization techniques to reduce bandwidth requirements.</a:t>
            </a:r>
          </a:p>
          <a:p>
            <a:r>
              <a:rPr lang="en-US" sz="2400" dirty="0"/>
              <a:t>Encryption protocols to protect student data.</a:t>
            </a:r>
          </a:p>
        </p:txBody>
      </p:sp>
    </p:spTree>
    <p:extLst>
      <p:ext uri="{BB962C8B-B14F-4D97-AF65-F5344CB8AC3E}">
        <p14:creationId xmlns:p14="http://schemas.microsoft.com/office/powerpoint/2010/main" val="2303939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A101CD-D2B9-5ECC-E15D-8CFEDD7F72A4}"/>
              </a:ext>
            </a:extLst>
          </p:cNvPr>
          <p:cNvSpPr>
            <a:spLocks noGrp="1"/>
          </p:cNvSpPr>
          <p:nvPr>
            <p:ph type="title"/>
          </p:nvPr>
        </p:nvSpPr>
        <p:spPr>
          <a:xfrm>
            <a:off x="1061835" y="1810700"/>
            <a:ext cx="9720072" cy="1499616"/>
          </a:xfrm>
        </p:spPr>
        <p:txBody>
          <a:bodyPr>
            <a:normAutofit/>
          </a:bodyPr>
          <a:lstStyle/>
          <a:p>
            <a:pPr algn="ctr"/>
            <a:r>
              <a:rPr lang="en-US" sz="9600" dirty="0"/>
              <a:t>Conclusion</a:t>
            </a:r>
          </a:p>
        </p:txBody>
      </p:sp>
      <p:sp>
        <p:nvSpPr>
          <p:cNvPr id="3" name="Content Placeholder 2">
            <a:extLst>
              <a:ext uri="{FF2B5EF4-FFF2-40B4-BE49-F238E27FC236}">
                <a16:creationId xmlns:a16="http://schemas.microsoft.com/office/drawing/2014/main" id="{6A0271D5-E119-C7D5-BD3C-D3C208BC14EF}"/>
              </a:ext>
            </a:extLst>
          </p:cNvPr>
          <p:cNvSpPr>
            <a:spLocks noGrp="1"/>
          </p:cNvSpPr>
          <p:nvPr>
            <p:ph idx="1"/>
          </p:nvPr>
        </p:nvSpPr>
        <p:spPr>
          <a:xfrm>
            <a:off x="1151122" y="3429000"/>
            <a:ext cx="9720073" cy="4996206"/>
          </a:xfrm>
        </p:spPr>
        <p:txBody>
          <a:bodyPr>
            <a:noAutofit/>
          </a:bodyPr>
          <a:lstStyle/>
          <a:p>
            <a:pPr marL="0" indent="0">
              <a:buNone/>
            </a:pPr>
            <a:r>
              <a:rPr lang="en-US" sz="2400" dirty="0">
                <a:cs typeface="Times New Roman" panose="02020603050405020304" pitchFamily="18" charset="0"/>
              </a:rPr>
              <a:t>The Online Exam Proctoring System demonstrates a significant advancement in remote exam security, fulfilling the need for integrity in online assessments. This project not only addresses current challenges in education but also lays a strong foundation for future improvements in digital proctoring technology. Thank you for your attention and interest in this project.</a:t>
            </a:r>
          </a:p>
        </p:txBody>
      </p:sp>
    </p:spTree>
    <p:extLst>
      <p:ext uri="{BB962C8B-B14F-4D97-AF65-F5344CB8AC3E}">
        <p14:creationId xmlns:p14="http://schemas.microsoft.com/office/powerpoint/2010/main" val="25155745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BE4664-C86E-ABBE-8B87-0E63BDCA7177}"/>
              </a:ext>
            </a:extLst>
          </p:cNvPr>
          <p:cNvSpPr>
            <a:spLocks noGrp="1"/>
          </p:cNvSpPr>
          <p:nvPr>
            <p:ph type="title"/>
          </p:nvPr>
        </p:nvSpPr>
        <p:spPr/>
        <p:txBody>
          <a:bodyPr>
            <a:noAutofit/>
          </a:bodyPr>
          <a:lstStyle/>
          <a:p>
            <a:pPr algn="ctr"/>
            <a:r>
              <a:rPr lang="en-US" sz="9600" dirty="0"/>
              <a:t>References</a:t>
            </a:r>
          </a:p>
        </p:txBody>
      </p:sp>
      <p:sp>
        <p:nvSpPr>
          <p:cNvPr id="3" name="Content Placeholder 2">
            <a:extLst>
              <a:ext uri="{FF2B5EF4-FFF2-40B4-BE49-F238E27FC236}">
                <a16:creationId xmlns:a16="http://schemas.microsoft.com/office/drawing/2014/main" id="{1A524A3C-281C-F6A0-973A-570984F78017}"/>
              </a:ext>
            </a:extLst>
          </p:cNvPr>
          <p:cNvSpPr>
            <a:spLocks noGrp="1"/>
          </p:cNvSpPr>
          <p:nvPr>
            <p:ph idx="1"/>
          </p:nvPr>
        </p:nvSpPr>
        <p:spPr/>
        <p:txBody>
          <a:bodyPr>
            <a:normAutofit fontScale="92500" lnSpcReduction="10000"/>
          </a:bodyPr>
          <a:lstStyle/>
          <a:p>
            <a:pPr marL="457200" marR="0" indent="0" algn="just">
              <a:lnSpc>
                <a:spcPct val="107000"/>
              </a:lnSpc>
              <a:spcAft>
                <a:spcPts val="45"/>
              </a:spcAft>
            </a:pPr>
            <a:r>
              <a:rPr lang="en-US" sz="2000" b="1" kern="100" dirty="0">
                <a:solidFill>
                  <a:srgbClr val="000000"/>
                </a:solidFill>
                <a:effectLst/>
                <a:latin typeface="Calibri" panose="020F0502020204030204" pitchFamily="34" charset="0"/>
                <a:ea typeface="Calibri" panose="020F0502020204030204" pitchFamily="34" charset="0"/>
              </a:rPr>
              <a:t>Dhar, M., Kaur, G., &amp; Verma, A.</a:t>
            </a:r>
            <a:r>
              <a:rPr lang="en-US" sz="2000" kern="100" dirty="0">
                <a:solidFill>
                  <a:srgbClr val="000000"/>
                </a:solidFill>
                <a:effectLst/>
                <a:latin typeface="Calibri" panose="020F0502020204030204" pitchFamily="34" charset="0"/>
                <a:ea typeface="Calibri" panose="020F0502020204030204" pitchFamily="34" charset="0"/>
              </a:rPr>
              <a:t> (2021). </a:t>
            </a:r>
            <a:r>
              <a:rPr lang="en-US" sz="2000" i="1" kern="100" dirty="0">
                <a:solidFill>
                  <a:srgbClr val="000000"/>
                </a:solidFill>
                <a:effectLst/>
                <a:latin typeface="Calibri" panose="020F0502020204030204" pitchFamily="34" charset="0"/>
                <a:ea typeface="Calibri" panose="020F0502020204030204" pitchFamily="34" charset="0"/>
              </a:rPr>
              <a:t>A Review on AI-Based Online Examination Proctoring Systems</a:t>
            </a:r>
            <a:r>
              <a:rPr lang="en-US" sz="2000" kern="100" dirty="0">
                <a:solidFill>
                  <a:srgbClr val="000000"/>
                </a:solidFill>
                <a:effectLst/>
                <a:latin typeface="Calibri" panose="020F0502020204030204" pitchFamily="34" charset="0"/>
                <a:ea typeface="Calibri" panose="020F0502020204030204" pitchFamily="34" charset="0"/>
              </a:rPr>
              <a:t>. </a:t>
            </a:r>
            <a:r>
              <a:rPr lang="en-US" sz="2000" i="1" kern="100" dirty="0">
                <a:solidFill>
                  <a:srgbClr val="000000"/>
                </a:solidFill>
                <a:effectLst/>
                <a:latin typeface="Calibri" panose="020F0502020204030204" pitchFamily="34" charset="0"/>
                <a:ea typeface="Calibri" panose="020F0502020204030204" pitchFamily="34" charset="0"/>
              </a:rPr>
              <a:t>International Journal of Advanced Computer Science and Applications</a:t>
            </a:r>
            <a:r>
              <a:rPr lang="en-US" sz="2000" kern="100" dirty="0">
                <a:solidFill>
                  <a:srgbClr val="000000"/>
                </a:solidFill>
                <a:effectLst/>
                <a:latin typeface="Calibri" panose="020F0502020204030204" pitchFamily="34" charset="0"/>
                <a:ea typeface="Calibri" panose="020F0502020204030204" pitchFamily="34" charset="0"/>
              </a:rPr>
              <a:t>, 12(5), 1-9.</a:t>
            </a:r>
          </a:p>
          <a:p>
            <a:pPr marL="457200" marR="0" indent="0" algn="just">
              <a:lnSpc>
                <a:spcPct val="107000"/>
              </a:lnSpc>
              <a:spcAft>
                <a:spcPts val="45"/>
              </a:spcAft>
            </a:pPr>
            <a:r>
              <a:rPr lang="en-US" sz="2000" kern="100" dirty="0">
                <a:solidFill>
                  <a:srgbClr val="000000"/>
                </a:solidFill>
                <a:effectLst/>
                <a:latin typeface="Calibri" panose="020F0502020204030204" pitchFamily="34" charset="0"/>
                <a:ea typeface="Calibri" panose="020F0502020204030204" pitchFamily="34" charset="0"/>
              </a:rPr>
              <a:t> </a:t>
            </a:r>
          </a:p>
          <a:p>
            <a:pPr marL="457200" marR="0" indent="0" algn="just">
              <a:lnSpc>
                <a:spcPct val="107000"/>
              </a:lnSpc>
              <a:spcAft>
                <a:spcPts val="45"/>
              </a:spcAft>
            </a:pPr>
            <a:r>
              <a:rPr lang="en-US" sz="2000" b="1" kern="100" dirty="0">
                <a:solidFill>
                  <a:srgbClr val="000000"/>
                </a:solidFill>
                <a:effectLst/>
                <a:latin typeface="Calibri" panose="020F0502020204030204" pitchFamily="34" charset="0"/>
                <a:ea typeface="Calibri" panose="020F0502020204030204" pitchFamily="34" charset="0"/>
              </a:rPr>
              <a:t>Zhou, Y., Lin, X., &amp; Yuan, J.</a:t>
            </a:r>
            <a:r>
              <a:rPr lang="en-US" sz="2000" kern="100" dirty="0">
                <a:solidFill>
                  <a:srgbClr val="000000"/>
                </a:solidFill>
                <a:effectLst/>
                <a:latin typeface="Calibri" panose="020F0502020204030204" pitchFamily="34" charset="0"/>
                <a:ea typeface="Calibri" panose="020F0502020204030204" pitchFamily="34" charset="0"/>
              </a:rPr>
              <a:t> (2020). </a:t>
            </a:r>
            <a:r>
              <a:rPr lang="en-US" sz="2000" i="1" kern="100" dirty="0">
                <a:solidFill>
                  <a:srgbClr val="000000"/>
                </a:solidFill>
                <a:effectLst/>
                <a:latin typeface="Calibri" panose="020F0502020204030204" pitchFamily="34" charset="0"/>
                <a:ea typeface="Calibri" panose="020F0502020204030204" pitchFamily="34" charset="0"/>
              </a:rPr>
              <a:t>An Intelligent System for Online Exam Monitoring Based on Behavior Analysis</a:t>
            </a:r>
            <a:r>
              <a:rPr lang="en-US" sz="2000" kern="100" dirty="0">
                <a:solidFill>
                  <a:srgbClr val="000000"/>
                </a:solidFill>
                <a:effectLst/>
                <a:latin typeface="Calibri" panose="020F0502020204030204" pitchFamily="34" charset="0"/>
                <a:ea typeface="Calibri" panose="020F0502020204030204" pitchFamily="34" charset="0"/>
              </a:rPr>
              <a:t>. </a:t>
            </a:r>
            <a:r>
              <a:rPr lang="en-US" sz="2000" i="1" kern="100" dirty="0">
                <a:solidFill>
                  <a:srgbClr val="000000"/>
                </a:solidFill>
                <a:effectLst/>
                <a:latin typeface="Calibri" panose="020F0502020204030204" pitchFamily="34" charset="0"/>
                <a:ea typeface="Calibri" panose="020F0502020204030204" pitchFamily="34" charset="0"/>
              </a:rPr>
              <a:t>IEEE Access</a:t>
            </a:r>
            <a:r>
              <a:rPr lang="en-US" sz="2000" kern="100" dirty="0">
                <a:solidFill>
                  <a:srgbClr val="000000"/>
                </a:solidFill>
                <a:effectLst/>
                <a:latin typeface="Calibri" panose="020F0502020204030204" pitchFamily="34" charset="0"/>
                <a:ea typeface="Calibri" panose="020F0502020204030204" pitchFamily="34" charset="0"/>
              </a:rPr>
              <a:t>, 8, 181146-181155.</a:t>
            </a:r>
          </a:p>
          <a:p>
            <a:pPr marL="457200" marR="0" indent="0" algn="just">
              <a:lnSpc>
                <a:spcPct val="107000"/>
              </a:lnSpc>
              <a:spcAft>
                <a:spcPts val="45"/>
              </a:spcAft>
            </a:pPr>
            <a:r>
              <a:rPr lang="en-US" sz="2000" b="1" kern="100" dirty="0">
                <a:solidFill>
                  <a:srgbClr val="000000"/>
                </a:solidFill>
                <a:effectLst/>
                <a:latin typeface="Calibri" panose="020F0502020204030204" pitchFamily="34" charset="0"/>
                <a:ea typeface="Calibri" panose="020F0502020204030204" pitchFamily="34" charset="0"/>
              </a:rPr>
              <a:t> </a:t>
            </a:r>
            <a:endParaRPr lang="en-US" sz="2000" kern="100" dirty="0">
              <a:solidFill>
                <a:srgbClr val="000000"/>
              </a:solidFill>
              <a:effectLst/>
              <a:latin typeface="Calibri" panose="020F0502020204030204" pitchFamily="34" charset="0"/>
              <a:ea typeface="Calibri" panose="020F0502020204030204" pitchFamily="34" charset="0"/>
            </a:endParaRPr>
          </a:p>
          <a:p>
            <a:pPr marL="457200" marR="0" indent="0" algn="just">
              <a:lnSpc>
                <a:spcPct val="107000"/>
              </a:lnSpc>
              <a:spcAft>
                <a:spcPts val="45"/>
              </a:spcAft>
            </a:pPr>
            <a:r>
              <a:rPr lang="en-US" sz="2000" b="1" kern="100" dirty="0">
                <a:solidFill>
                  <a:srgbClr val="000000"/>
                </a:solidFill>
                <a:effectLst/>
                <a:latin typeface="Calibri" panose="020F0502020204030204" pitchFamily="34" charset="0"/>
                <a:ea typeface="Calibri" panose="020F0502020204030204" pitchFamily="34" charset="0"/>
              </a:rPr>
              <a:t>Lee, C., Zhang, S., &amp; Kim, J.</a:t>
            </a:r>
            <a:r>
              <a:rPr lang="en-US" sz="2000" kern="100" dirty="0">
                <a:solidFill>
                  <a:srgbClr val="000000"/>
                </a:solidFill>
                <a:effectLst/>
                <a:latin typeface="Calibri" panose="020F0502020204030204" pitchFamily="34" charset="0"/>
                <a:ea typeface="Calibri" panose="020F0502020204030204" pitchFamily="34" charset="0"/>
              </a:rPr>
              <a:t> (2019). </a:t>
            </a:r>
            <a:r>
              <a:rPr lang="en-US" sz="2000" i="1" kern="100" dirty="0">
                <a:solidFill>
                  <a:srgbClr val="000000"/>
                </a:solidFill>
                <a:effectLst/>
                <a:latin typeface="Calibri" panose="020F0502020204030204" pitchFamily="34" charset="0"/>
                <a:ea typeface="Calibri" panose="020F0502020204030204" pitchFamily="34" charset="0"/>
              </a:rPr>
              <a:t>Privacy and Ethics in AI-Based Remote Proctoring</a:t>
            </a:r>
            <a:r>
              <a:rPr lang="en-US" sz="2000" kern="100" dirty="0">
                <a:solidFill>
                  <a:srgbClr val="000000"/>
                </a:solidFill>
                <a:effectLst/>
                <a:latin typeface="Calibri" panose="020F0502020204030204" pitchFamily="34" charset="0"/>
                <a:ea typeface="Calibri" panose="020F0502020204030204" pitchFamily="34" charset="0"/>
              </a:rPr>
              <a:t>. </a:t>
            </a:r>
            <a:r>
              <a:rPr lang="en-US" sz="2000" i="1" kern="100" dirty="0">
                <a:solidFill>
                  <a:srgbClr val="000000"/>
                </a:solidFill>
                <a:effectLst/>
                <a:latin typeface="Calibri" panose="020F0502020204030204" pitchFamily="34" charset="0"/>
                <a:ea typeface="Calibri" panose="020F0502020204030204" pitchFamily="34" charset="0"/>
              </a:rPr>
              <a:t>Computers &amp; Education</a:t>
            </a:r>
            <a:r>
              <a:rPr lang="en-US" sz="2000" kern="100" dirty="0">
                <a:solidFill>
                  <a:srgbClr val="000000"/>
                </a:solidFill>
                <a:effectLst/>
                <a:latin typeface="Calibri" panose="020F0502020204030204" pitchFamily="34" charset="0"/>
                <a:ea typeface="Calibri" panose="020F0502020204030204" pitchFamily="34" charset="0"/>
              </a:rPr>
              <a:t>, 140, 103596.</a:t>
            </a:r>
          </a:p>
          <a:p>
            <a:pPr marL="457200" marR="0" indent="0" algn="just">
              <a:lnSpc>
                <a:spcPct val="107000"/>
              </a:lnSpc>
              <a:spcAft>
                <a:spcPts val="45"/>
              </a:spcAft>
            </a:pPr>
            <a:r>
              <a:rPr lang="en-US" sz="2000" b="1" kern="100" dirty="0">
                <a:solidFill>
                  <a:srgbClr val="000000"/>
                </a:solidFill>
                <a:effectLst/>
                <a:latin typeface="Calibri" panose="020F0502020204030204" pitchFamily="34" charset="0"/>
                <a:ea typeface="Calibri" panose="020F0502020204030204" pitchFamily="34" charset="0"/>
              </a:rPr>
              <a:t> </a:t>
            </a:r>
            <a:endParaRPr lang="en-US" sz="2000" kern="100" dirty="0">
              <a:solidFill>
                <a:srgbClr val="000000"/>
              </a:solidFill>
              <a:effectLst/>
              <a:latin typeface="Calibri" panose="020F0502020204030204" pitchFamily="34" charset="0"/>
              <a:ea typeface="Calibri" panose="020F0502020204030204" pitchFamily="34" charset="0"/>
            </a:endParaRPr>
          </a:p>
          <a:p>
            <a:pPr marL="457200" marR="0" indent="0" algn="just">
              <a:lnSpc>
                <a:spcPct val="107000"/>
              </a:lnSpc>
              <a:spcAft>
                <a:spcPts val="45"/>
              </a:spcAft>
            </a:pPr>
            <a:r>
              <a:rPr lang="en-US" sz="2000" b="1" kern="100" dirty="0">
                <a:solidFill>
                  <a:srgbClr val="000000"/>
                </a:solidFill>
                <a:effectLst/>
                <a:latin typeface="Calibri" panose="020F0502020204030204" pitchFamily="34" charset="0"/>
                <a:ea typeface="Calibri" panose="020F0502020204030204" pitchFamily="34" charset="0"/>
              </a:rPr>
              <a:t>Chen, Y., Davis, H., &amp; Goodacre, M.</a:t>
            </a:r>
            <a:r>
              <a:rPr lang="en-US" sz="2000" kern="100" dirty="0">
                <a:solidFill>
                  <a:srgbClr val="000000"/>
                </a:solidFill>
                <a:effectLst/>
                <a:latin typeface="Calibri" panose="020F0502020204030204" pitchFamily="34" charset="0"/>
                <a:ea typeface="Calibri" panose="020F0502020204030204" pitchFamily="34" charset="0"/>
              </a:rPr>
              <a:t> (2021). </a:t>
            </a:r>
            <a:r>
              <a:rPr lang="en-US" sz="2000" i="1" kern="100" dirty="0">
                <a:solidFill>
                  <a:srgbClr val="000000"/>
                </a:solidFill>
                <a:effectLst/>
                <a:latin typeface="Calibri" panose="020F0502020204030204" pitchFamily="34" charset="0"/>
                <a:ea typeface="Calibri" panose="020F0502020204030204" pitchFamily="34" charset="0"/>
              </a:rPr>
              <a:t>Real-Time Audio and Visual Monitoring in Online Proctoring: Opportunities and Challenges</a:t>
            </a:r>
            <a:r>
              <a:rPr lang="en-US" sz="2000" kern="100" dirty="0">
                <a:solidFill>
                  <a:srgbClr val="000000"/>
                </a:solidFill>
                <a:effectLst/>
                <a:latin typeface="Calibri" panose="020F0502020204030204" pitchFamily="34" charset="0"/>
                <a:ea typeface="Calibri" panose="020F0502020204030204" pitchFamily="34" charset="0"/>
              </a:rPr>
              <a:t>. </a:t>
            </a:r>
            <a:r>
              <a:rPr lang="en-US" sz="2000" i="1" kern="100" dirty="0">
                <a:solidFill>
                  <a:srgbClr val="000000"/>
                </a:solidFill>
                <a:effectLst/>
                <a:latin typeface="Calibri" panose="020F0502020204030204" pitchFamily="34" charset="0"/>
                <a:ea typeface="Calibri" panose="020F0502020204030204" pitchFamily="34" charset="0"/>
              </a:rPr>
              <a:t>Journal of Educational Technology Systems</a:t>
            </a:r>
            <a:r>
              <a:rPr lang="en-US" sz="2000" kern="100" dirty="0">
                <a:solidFill>
                  <a:srgbClr val="000000"/>
                </a:solidFill>
                <a:effectLst/>
                <a:latin typeface="Calibri" panose="020F0502020204030204" pitchFamily="34" charset="0"/>
                <a:ea typeface="Calibri" panose="020F0502020204030204" pitchFamily="34" charset="0"/>
              </a:rPr>
              <a:t>, 49(4), 458-475.</a:t>
            </a:r>
          </a:p>
          <a:p>
            <a:endParaRPr lang="en-US" dirty="0"/>
          </a:p>
        </p:txBody>
      </p:sp>
    </p:spTree>
    <p:extLst>
      <p:ext uri="{BB962C8B-B14F-4D97-AF65-F5344CB8AC3E}">
        <p14:creationId xmlns:p14="http://schemas.microsoft.com/office/powerpoint/2010/main" val="23155880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404</TotalTime>
  <Words>1064</Words>
  <Application>Microsoft Office PowerPoint</Application>
  <PresentationFormat>Widescreen</PresentationFormat>
  <Paragraphs>77</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Calibri Light</vt:lpstr>
      <vt:lpstr>Times New Roman</vt:lpstr>
      <vt:lpstr>Office Theme</vt:lpstr>
      <vt:lpstr>FINAL YEAR PROJECT- ONLINE EXAM PROCTORING SYSTEM</vt:lpstr>
      <vt:lpstr>Introduction</vt:lpstr>
      <vt:lpstr>Problem</vt:lpstr>
      <vt:lpstr>Key issues</vt:lpstr>
      <vt:lpstr>Objectives</vt:lpstr>
      <vt:lpstr>PowerPoint Presentation</vt:lpstr>
      <vt:lpstr>User Interface (UI) </vt:lpstr>
      <vt:lpstr>Backend Server </vt:lpstr>
      <vt:lpstr>Proctoring Tools </vt:lpstr>
      <vt:lpstr>Data Storage and Database </vt:lpstr>
      <vt:lpstr>Real-Time Processing and Alerts Module </vt:lpstr>
      <vt:lpstr>Reporting and Logging Module </vt:lpstr>
      <vt:lpstr>Technologies used </vt:lpstr>
      <vt:lpstr>Key features</vt:lpstr>
      <vt:lpstr>Challenges and solutions</vt:lpstr>
      <vt:lpstr>Conclusion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Heart Disease Prediction</dc:title>
  <dc:creator>Eugene Cosmas Tirkey</dc:creator>
  <cp:lastModifiedBy>Eugene Cosmas Tirkey</cp:lastModifiedBy>
  <cp:revision>7</cp:revision>
  <dcterms:created xsi:type="dcterms:W3CDTF">2024-04-14T17:20:00Z</dcterms:created>
  <dcterms:modified xsi:type="dcterms:W3CDTF">2024-11-11T23:38:33Z</dcterms:modified>
</cp:coreProperties>
</file>